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 id="270" r:id="rId14"/>
    <p:sldId id="271" r:id="rId15"/>
    <p:sldId id="266" r:id="rId16"/>
    <p:sldId id="267" r:id="rId17"/>
    <p:sldId id="2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A5CF54-442D-FD40-72DA-A055DE9C06F8}" v="5572" dt="2026-07-14T04:09:44.8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86011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43135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40256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41625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7/13/2026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24480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7/13/2026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51028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7/13/2026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023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693526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652674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61104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34868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7/13/2026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4193371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04672" y="4267832"/>
            <a:ext cx="4805996" cy="1297115"/>
          </a:xfrm>
        </p:spPr>
        <p:txBody>
          <a:bodyPr anchor="t">
            <a:normAutofit/>
          </a:bodyPr>
          <a:lstStyle/>
          <a:p>
            <a:pPr algn="l"/>
            <a:r>
              <a:rPr lang="en-US" sz="4000" b="1">
                <a:solidFill>
                  <a:schemeClr val="tx2"/>
                </a:solidFill>
              </a:rPr>
              <a:t>Credit Score Management System</a:t>
            </a:r>
          </a:p>
        </p:txBody>
      </p:sp>
      <p:sp>
        <p:nvSpPr>
          <p:cNvPr id="3" name="Subtitle 2"/>
          <p:cNvSpPr>
            <a:spLocks noGrp="1"/>
          </p:cNvSpPr>
          <p:nvPr>
            <p:ph type="subTitle" idx="1"/>
          </p:nvPr>
        </p:nvSpPr>
        <p:spPr>
          <a:xfrm>
            <a:off x="804672" y="3428999"/>
            <a:ext cx="4805691" cy="838831"/>
          </a:xfrm>
        </p:spPr>
        <p:txBody>
          <a:bodyPr vert="horz" lIns="91440" tIns="45720" rIns="91440" bIns="45720" rtlCol="0" anchor="b">
            <a:normAutofit/>
          </a:bodyPr>
          <a:lstStyle/>
          <a:p>
            <a:pPr algn="l"/>
            <a:r>
              <a:rPr lang="en-US" sz="2000" b="1">
                <a:solidFill>
                  <a:schemeClr val="tx2"/>
                </a:solidFill>
              </a:rPr>
              <a:t>Capstone Project </a:t>
            </a:r>
          </a:p>
        </p:txBody>
      </p:sp>
      <p:pic>
        <p:nvPicPr>
          <p:cNvPr id="7" name="Graphic 6" descr="Credit card">
            <a:extLst>
              <a:ext uri="{FF2B5EF4-FFF2-40B4-BE49-F238E27FC236}">
                <a16:creationId xmlns:a16="http://schemas.microsoft.com/office/drawing/2014/main" id="{60EC20C4-1B74-ECAB-71F6-C1D608C45CB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29652" y="1859078"/>
            <a:ext cx="3821102" cy="3821102"/>
          </a:xfrm>
          <a:prstGeom prst="rect">
            <a:avLst/>
          </a:prstGeom>
          <a:ln>
            <a:noFill/>
          </a:ln>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4D6CF1C8-E277-CD09-1B81-BC9F2FA1AB44}"/>
              </a:ext>
            </a:extLst>
          </p:cNvPr>
          <p:cNvSpPr>
            <a:spLocks noGrp="1"/>
          </p:cNvSpPr>
          <p:nvPr>
            <p:ph type="title"/>
          </p:nvPr>
        </p:nvSpPr>
        <p:spPr>
          <a:xfrm>
            <a:off x="1179226" y="1594707"/>
            <a:ext cx="9833548" cy="1325563"/>
          </a:xfrm>
        </p:spPr>
        <p:txBody>
          <a:bodyPr anchor="b">
            <a:normAutofit/>
          </a:bodyPr>
          <a:lstStyle/>
          <a:p>
            <a:pPr algn="ctr"/>
            <a:r>
              <a:rPr lang="en-US" sz="3600" b="1">
                <a:solidFill>
                  <a:schemeClr val="tx2"/>
                </a:solidFill>
              </a:rPr>
              <a:t>Project overview</a:t>
            </a:r>
          </a:p>
        </p:txBody>
      </p:sp>
      <p:grpSp>
        <p:nvGrpSpPr>
          <p:cNvPr id="7" name="Group 6">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4B4EEB9C-6E0D-CFE2-E1D0-252191A6A522}"/>
              </a:ext>
            </a:extLst>
          </p:cNvPr>
          <p:cNvSpPr>
            <a:spLocks noGrp="1"/>
          </p:cNvSpPr>
          <p:nvPr>
            <p:ph idx="1"/>
          </p:nvPr>
        </p:nvSpPr>
        <p:spPr>
          <a:xfrm>
            <a:off x="1179226" y="3329677"/>
            <a:ext cx="9833548" cy="2457269"/>
          </a:xfrm>
        </p:spPr>
        <p:txBody>
          <a:bodyPr vert="horz" lIns="91440" tIns="45720" rIns="91440" bIns="45720" rtlCol="0">
            <a:normAutofit/>
          </a:bodyPr>
          <a:lstStyle/>
          <a:p>
            <a:pPr marL="0" indent="0">
              <a:buNone/>
            </a:pPr>
            <a:r>
              <a:rPr lang="en-US" sz="1800">
                <a:solidFill>
                  <a:schemeClr val="tx2"/>
                </a:solidFill>
              </a:rPr>
              <a:t>Develop a web application to manage customer credit information.</a:t>
            </a:r>
          </a:p>
          <a:p>
            <a:pPr marL="0" indent="0">
              <a:buNone/>
            </a:pPr>
            <a:r>
              <a:rPr lang="en-US" sz="1800">
                <a:solidFill>
                  <a:schemeClr val="tx2"/>
                </a:solidFill>
              </a:rPr>
              <a:t>Store customer details securely.</a:t>
            </a:r>
          </a:p>
          <a:p>
            <a:pPr marL="0" indent="0">
              <a:buNone/>
            </a:pPr>
            <a:r>
              <a:rPr lang="en-US" sz="1800">
                <a:solidFill>
                  <a:schemeClr val="tx2"/>
                </a:solidFill>
              </a:rPr>
              <a:t>Calculate and maintain credit scores.</a:t>
            </a:r>
          </a:p>
          <a:p>
            <a:pPr marL="0" indent="0">
              <a:buNone/>
            </a:pPr>
            <a:r>
              <a:rPr lang="en-US" sz="1800">
                <a:solidFill>
                  <a:schemeClr val="tx2"/>
                </a:solidFill>
              </a:rPr>
              <a:t>Generate customer credit reports.</a:t>
            </a:r>
          </a:p>
          <a:p>
            <a:pPr marL="0" indent="0">
              <a:buNone/>
            </a:pPr>
            <a:r>
              <a:rPr lang="en-US" sz="1800">
                <a:solidFill>
                  <a:schemeClr val="tx2"/>
                </a:solidFill>
              </a:rPr>
              <a:t>Provide an admin dashboard for monitoring  customerdata.</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47047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EF5CA449-C81E-0B91-7599-E7838BCB44F2}"/>
              </a:ext>
            </a:extLst>
          </p:cNvPr>
          <p:cNvSpPr>
            <a:spLocks noGrp="1"/>
          </p:cNvSpPr>
          <p:nvPr>
            <p:ph type="title"/>
          </p:nvPr>
        </p:nvSpPr>
        <p:spPr>
          <a:xfrm>
            <a:off x="1179226" y="1594707"/>
            <a:ext cx="9833548" cy="1325563"/>
          </a:xfrm>
        </p:spPr>
        <p:txBody>
          <a:bodyPr anchor="b">
            <a:normAutofit/>
          </a:bodyPr>
          <a:lstStyle/>
          <a:p>
            <a:pPr algn="ctr"/>
            <a:r>
              <a:rPr lang="en-US" sz="3600" b="1">
                <a:solidFill>
                  <a:schemeClr val="tx2"/>
                </a:solidFill>
              </a:rPr>
              <a:t>Problem statement</a:t>
            </a:r>
          </a:p>
        </p:txBody>
      </p:sp>
      <p:grpSp>
        <p:nvGrpSpPr>
          <p:cNvPr id="7" name="Group 6">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ABF7794A-69EA-9D2E-D40B-D66B848A00CC}"/>
              </a:ext>
            </a:extLst>
          </p:cNvPr>
          <p:cNvSpPr>
            <a:spLocks noGrp="1"/>
          </p:cNvSpPr>
          <p:nvPr>
            <p:ph idx="1"/>
          </p:nvPr>
        </p:nvSpPr>
        <p:spPr>
          <a:xfrm>
            <a:off x="1179226" y="3329677"/>
            <a:ext cx="9833548" cy="2457269"/>
          </a:xfrm>
        </p:spPr>
        <p:txBody>
          <a:bodyPr vert="horz" lIns="91440" tIns="45720" rIns="91440" bIns="45720" rtlCol="0">
            <a:normAutofit/>
          </a:bodyPr>
          <a:lstStyle/>
          <a:p>
            <a:pPr marL="0" indent="0">
              <a:buNone/>
            </a:pPr>
            <a:r>
              <a:rPr lang="en-US" sz="1800">
                <a:solidFill>
                  <a:schemeClr val="tx2"/>
                </a:solidFill>
              </a:rPr>
              <a:t>Many organizations struggle with : </a:t>
            </a:r>
          </a:p>
          <a:p>
            <a:pPr marL="0" indent="0">
              <a:buNone/>
            </a:pPr>
            <a:r>
              <a:rPr lang="en-US" sz="1800">
                <a:solidFill>
                  <a:schemeClr val="tx2"/>
                </a:solidFill>
              </a:rPr>
              <a:t>Manual management of credit scores. </a:t>
            </a:r>
          </a:p>
          <a:p>
            <a:pPr marL="0" indent="0">
              <a:buNone/>
            </a:pPr>
            <a:r>
              <a:rPr lang="en-US" sz="1800">
                <a:solidFill>
                  <a:schemeClr val="tx2"/>
                </a:solidFill>
              </a:rPr>
              <a:t>Inconsistent credit score tracking.</a:t>
            </a:r>
          </a:p>
          <a:p>
            <a:pPr marL="0" indent="0">
              <a:buNone/>
            </a:pPr>
            <a:r>
              <a:rPr lang="en-US" sz="1800">
                <a:solidFill>
                  <a:schemeClr val="tx2"/>
                </a:solidFill>
              </a:rPr>
              <a:t>Lack of centralized customer information.</a:t>
            </a:r>
          </a:p>
          <a:p>
            <a:pPr marL="0" indent="0">
              <a:buNone/>
            </a:pPr>
            <a:r>
              <a:rPr lang="en-US" sz="1800">
                <a:solidFill>
                  <a:schemeClr val="tx2"/>
                </a:solidFill>
              </a:rPr>
              <a:t>Time-consuming report generation</a:t>
            </a:r>
          </a:p>
        </p:txBody>
      </p:sp>
      <p:grpSp>
        <p:nvGrpSpPr>
          <p:cNvPr id="9" name="Group 8">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50110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2ACD653B-40AE-BF6E-68A1-F6CA6C209861}"/>
              </a:ext>
            </a:extLst>
          </p:cNvPr>
          <p:cNvSpPr>
            <a:spLocks noGrp="1"/>
          </p:cNvSpPr>
          <p:nvPr>
            <p:ph type="title"/>
          </p:nvPr>
        </p:nvSpPr>
        <p:spPr>
          <a:xfrm>
            <a:off x="1179226" y="1594707"/>
            <a:ext cx="9833548" cy="1325563"/>
          </a:xfrm>
        </p:spPr>
        <p:txBody>
          <a:bodyPr anchor="b">
            <a:normAutofit/>
          </a:bodyPr>
          <a:lstStyle/>
          <a:p>
            <a:pPr algn="ctr"/>
            <a:r>
              <a:rPr lang="en-US" sz="3600" b="1">
                <a:solidFill>
                  <a:schemeClr val="tx2"/>
                </a:solidFill>
              </a:rPr>
              <a:t>Technologies Used</a:t>
            </a:r>
          </a:p>
        </p:txBody>
      </p:sp>
      <p:grpSp>
        <p:nvGrpSpPr>
          <p:cNvPr id="7" name="Group 6">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0FF573D9-E05B-1BB2-8927-9B5C7DD6D586}"/>
              </a:ext>
            </a:extLst>
          </p:cNvPr>
          <p:cNvSpPr>
            <a:spLocks noGrp="1"/>
          </p:cNvSpPr>
          <p:nvPr>
            <p:ph idx="1"/>
          </p:nvPr>
        </p:nvSpPr>
        <p:spPr>
          <a:xfrm>
            <a:off x="1179226" y="3329677"/>
            <a:ext cx="9833548" cy="2457269"/>
          </a:xfrm>
        </p:spPr>
        <p:txBody>
          <a:bodyPr vert="horz" lIns="91440" tIns="45720" rIns="91440" bIns="45720" rtlCol="0">
            <a:normAutofit/>
          </a:bodyPr>
          <a:lstStyle/>
          <a:p>
            <a:pPr marL="0" indent="0">
              <a:buNone/>
            </a:pPr>
            <a:r>
              <a:rPr lang="en-US" sz="1500" b="1">
                <a:solidFill>
                  <a:schemeClr val="tx2"/>
                </a:solidFill>
              </a:rPr>
              <a:t>Layer:                                                            Technology</a:t>
            </a:r>
          </a:p>
          <a:p>
            <a:pPr marL="0" indent="0">
              <a:buNone/>
            </a:pPr>
            <a:r>
              <a:rPr lang="en-US" sz="1500">
                <a:solidFill>
                  <a:schemeClr val="tx2"/>
                </a:solidFill>
              </a:rPr>
              <a:t>Frontend                                                       Angular 21</a:t>
            </a:r>
          </a:p>
          <a:p>
            <a:pPr marL="0" indent="0">
              <a:buNone/>
            </a:pPr>
            <a:r>
              <a:rPr lang="en-US" sz="1500">
                <a:solidFill>
                  <a:schemeClr val="tx2"/>
                </a:solidFill>
              </a:rPr>
              <a:t>Backend                                                       Spring Boot 4.0.6</a:t>
            </a:r>
          </a:p>
          <a:p>
            <a:pPr marL="0" indent="0">
              <a:buNone/>
            </a:pPr>
            <a:r>
              <a:rPr lang="en-US" sz="1500">
                <a:solidFill>
                  <a:schemeClr val="tx2"/>
                </a:solidFill>
              </a:rPr>
              <a:t>Database                                                     PostgreSQL</a:t>
            </a:r>
          </a:p>
          <a:p>
            <a:pPr marL="0" indent="0">
              <a:buNone/>
            </a:pPr>
            <a:r>
              <a:rPr lang="en-US" sz="1500">
                <a:solidFill>
                  <a:schemeClr val="tx2"/>
                </a:solidFill>
              </a:rPr>
              <a:t>API testing                                                   Postman</a:t>
            </a:r>
          </a:p>
          <a:p>
            <a:pPr marL="0" indent="0">
              <a:buNone/>
            </a:pPr>
            <a:r>
              <a:rPr lang="en-US" sz="1500">
                <a:solidFill>
                  <a:schemeClr val="tx2"/>
                </a:solidFill>
              </a:rPr>
              <a:t>Build tool                                                     Maven</a:t>
            </a:r>
          </a:p>
          <a:p>
            <a:pPr marL="0" indent="0">
              <a:buNone/>
            </a:pPr>
            <a:r>
              <a:rPr lang="en-US" sz="1500">
                <a:solidFill>
                  <a:schemeClr val="tx2"/>
                </a:solidFill>
              </a:rPr>
              <a:t>IDE                                                                  Eclipse,VS code – JDK 17</a:t>
            </a:r>
          </a:p>
        </p:txBody>
      </p:sp>
      <p:grpSp>
        <p:nvGrpSpPr>
          <p:cNvPr id="9" name="Group 8">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1" name="Freeform: Shape 10">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89720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24B65-657F-C61E-8F44-2CCF4DB9C504}"/>
              </a:ext>
            </a:extLst>
          </p:cNvPr>
          <p:cNvSpPr>
            <a:spLocks noGrp="1"/>
          </p:cNvSpPr>
          <p:nvPr>
            <p:ph type="title"/>
          </p:nvPr>
        </p:nvSpPr>
        <p:spPr/>
        <p:txBody>
          <a:bodyPr/>
          <a:lstStyle/>
          <a:p>
            <a:r>
              <a:rPr lang="en-US" b="1"/>
              <a:t>Simple full stack end to end flow </a:t>
            </a:r>
          </a:p>
        </p:txBody>
      </p:sp>
      <p:sp>
        <p:nvSpPr>
          <p:cNvPr id="3" name="Content Placeholder 2">
            <a:extLst>
              <a:ext uri="{FF2B5EF4-FFF2-40B4-BE49-F238E27FC236}">
                <a16:creationId xmlns:a16="http://schemas.microsoft.com/office/drawing/2014/main" id="{B917643F-2638-6DBB-0B3C-A8EC15589362}"/>
              </a:ext>
            </a:extLst>
          </p:cNvPr>
          <p:cNvSpPr>
            <a:spLocks noGrp="1"/>
          </p:cNvSpPr>
          <p:nvPr>
            <p:ph idx="1"/>
          </p:nvPr>
        </p:nvSpPr>
        <p:spPr>
          <a:xfrm>
            <a:off x="838200" y="1208768"/>
            <a:ext cx="10515600" cy="4968195"/>
          </a:xfrm>
        </p:spPr>
        <p:txBody>
          <a:bodyPr vert="horz" lIns="91440" tIns="45720" rIns="91440" bIns="45720" rtlCol="0" anchor="t">
            <a:normAutofit/>
          </a:bodyPr>
          <a:lstStyle/>
          <a:p>
            <a:pPr marL="0" indent="0">
              <a:buNone/>
            </a:pPr>
            <a:r>
              <a:rPr lang="en-US" dirty="0"/>
              <a:t>                                                  </a:t>
            </a:r>
          </a:p>
          <a:p>
            <a:pPr marL="0" indent="0">
              <a:buNone/>
            </a:pPr>
            <a:endParaRPr lang="en-US" dirty="0"/>
          </a:p>
        </p:txBody>
      </p:sp>
      <p:sp>
        <p:nvSpPr>
          <p:cNvPr id="7" name="TextBox 6">
            <a:extLst>
              <a:ext uri="{FF2B5EF4-FFF2-40B4-BE49-F238E27FC236}">
                <a16:creationId xmlns:a16="http://schemas.microsoft.com/office/drawing/2014/main" id="{ADCA1134-B169-FEF1-3B9F-13F316DA8CFE}"/>
              </a:ext>
            </a:extLst>
          </p:cNvPr>
          <p:cNvSpPr txBox="1"/>
          <p:nvPr/>
        </p:nvSpPr>
        <p:spPr>
          <a:xfrm>
            <a:off x="3468914" y="1451428"/>
            <a:ext cx="99785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User</a:t>
            </a:r>
          </a:p>
        </p:txBody>
      </p:sp>
      <p:sp>
        <p:nvSpPr>
          <p:cNvPr id="10" name="TextBox 9">
            <a:extLst>
              <a:ext uri="{FF2B5EF4-FFF2-40B4-BE49-F238E27FC236}">
                <a16:creationId xmlns:a16="http://schemas.microsoft.com/office/drawing/2014/main" id="{A074A1CB-D22D-1D89-C97C-0D84A7E69DB1}"/>
              </a:ext>
            </a:extLst>
          </p:cNvPr>
          <p:cNvSpPr txBox="1"/>
          <p:nvPr/>
        </p:nvSpPr>
        <p:spPr>
          <a:xfrm>
            <a:off x="3033485" y="2075543"/>
            <a:ext cx="54464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Angular frontend [ HTML+CSS+ TypeScript]</a:t>
            </a:r>
          </a:p>
        </p:txBody>
      </p:sp>
      <p:sp>
        <p:nvSpPr>
          <p:cNvPr id="12" name="TextBox 11">
            <a:extLst>
              <a:ext uri="{FF2B5EF4-FFF2-40B4-BE49-F238E27FC236}">
                <a16:creationId xmlns:a16="http://schemas.microsoft.com/office/drawing/2014/main" id="{D05B671F-656C-6D40-4473-2C962FBE5F25}"/>
              </a:ext>
            </a:extLst>
          </p:cNvPr>
          <p:cNvSpPr txBox="1"/>
          <p:nvPr/>
        </p:nvSpPr>
        <p:spPr>
          <a:xfrm>
            <a:off x="3294743" y="2794000"/>
            <a:ext cx="146957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Rest API</a:t>
            </a:r>
          </a:p>
        </p:txBody>
      </p:sp>
      <p:sp>
        <p:nvSpPr>
          <p:cNvPr id="14" name="TextBox 13">
            <a:extLst>
              <a:ext uri="{FF2B5EF4-FFF2-40B4-BE49-F238E27FC236}">
                <a16:creationId xmlns:a16="http://schemas.microsoft.com/office/drawing/2014/main" id="{A08BE798-6F1B-F55C-83DB-09D762B980DA}"/>
              </a:ext>
            </a:extLst>
          </p:cNvPr>
          <p:cNvSpPr txBox="1"/>
          <p:nvPr/>
        </p:nvSpPr>
        <p:spPr>
          <a:xfrm>
            <a:off x="2931884" y="3418113"/>
            <a:ext cx="661125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Spring boot backend [Controller + Service + Repository]</a:t>
            </a:r>
          </a:p>
        </p:txBody>
      </p:sp>
      <p:sp>
        <p:nvSpPr>
          <p:cNvPr id="15" name="TextBox 14">
            <a:extLst>
              <a:ext uri="{FF2B5EF4-FFF2-40B4-BE49-F238E27FC236}">
                <a16:creationId xmlns:a16="http://schemas.microsoft.com/office/drawing/2014/main" id="{A2F25274-AEB8-5176-3874-C964D2E3882B}"/>
              </a:ext>
            </a:extLst>
          </p:cNvPr>
          <p:cNvSpPr txBox="1"/>
          <p:nvPr/>
        </p:nvSpPr>
        <p:spPr>
          <a:xfrm>
            <a:off x="2902856" y="4194628"/>
            <a:ext cx="277585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t>PostGreSQL</a:t>
            </a:r>
            <a:r>
              <a:rPr lang="en-US" dirty="0"/>
              <a:t> database</a:t>
            </a:r>
          </a:p>
        </p:txBody>
      </p:sp>
      <p:sp>
        <p:nvSpPr>
          <p:cNvPr id="16" name="TextBox 15">
            <a:extLst>
              <a:ext uri="{FF2B5EF4-FFF2-40B4-BE49-F238E27FC236}">
                <a16:creationId xmlns:a16="http://schemas.microsoft.com/office/drawing/2014/main" id="{94F328F3-E0B1-EAA6-FED8-5F27EE5FACE3}"/>
              </a:ext>
            </a:extLst>
          </p:cNvPr>
          <p:cNvSpPr txBox="1"/>
          <p:nvPr/>
        </p:nvSpPr>
        <p:spPr>
          <a:xfrm>
            <a:off x="3047999" y="5047342"/>
            <a:ext cx="2300514" cy="3765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JSON Response</a:t>
            </a:r>
          </a:p>
        </p:txBody>
      </p:sp>
      <p:sp>
        <p:nvSpPr>
          <p:cNvPr id="17" name="TextBox 16">
            <a:extLst>
              <a:ext uri="{FF2B5EF4-FFF2-40B4-BE49-F238E27FC236}">
                <a16:creationId xmlns:a16="http://schemas.microsoft.com/office/drawing/2014/main" id="{8B2A20D5-6F7D-723F-9FFE-CCEE29FB94F2}"/>
              </a:ext>
            </a:extLst>
          </p:cNvPr>
          <p:cNvSpPr txBox="1"/>
          <p:nvPr/>
        </p:nvSpPr>
        <p:spPr>
          <a:xfrm>
            <a:off x="2975428" y="5987142"/>
            <a:ext cx="297542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Angular UI display</a:t>
            </a:r>
          </a:p>
        </p:txBody>
      </p:sp>
      <p:cxnSp>
        <p:nvCxnSpPr>
          <p:cNvPr id="19" name="Straight Arrow Connector 18">
            <a:extLst>
              <a:ext uri="{FF2B5EF4-FFF2-40B4-BE49-F238E27FC236}">
                <a16:creationId xmlns:a16="http://schemas.microsoft.com/office/drawing/2014/main" id="{4C999101-0BDA-F106-9F99-C4D0FE774B1D}"/>
              </a:ext>
            </a:extLst>
          </p:cNvPr>
          <p:cNvCxnSpPr/>
          <p:nvPr/>
        </p:nvCxnSpPr>
        <p:spPr>
          <a:xfrm>
            <a:off x="3737427" y="1734457"/>
            <a:ext cx="3629" cy="3592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F4D5E134-C995-9EB9-F7B3-79F4F4C8191A}"/>
              </a:ext>
            </a:extLst>
          </p:cNvPr>
          <p:cNvCxnSpPr>
            <a:cxnSpLocks/>
          </p:cNvCxnSpPr>
          <p:nvPr/>
        </p:nvCxnSpPr>
        <p:spPr>
          <a:xfrm>
            <a:off x="3802741" y="2416628"/>
            <a:ext cx="10886" cy="4100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566B0C72-8643-69E0-D346-6E60A998DD29}"/>
              </a:ext>
            </a:extLst>
          </p:cNvPr>
          <p:cNvCxnSpPr>
            <a:cxnSpLocks/>
          </p:cNvCxnSpPr>
          <p:nvPr/>
        </p:nvCxnSpPr>
        <p:spPr>
          <a:xfrm>
            <a:off x="3868055" y="3033484"/>
            <a:ext cx="18143" cy="5551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2F3EF75F-D71A-A2BD-757D-1D6C2E2C0466}"/>
              </a:ext>
            </a:extLst>
          </p:cNvPr>
          <p:cNvCxnSpPr>
            <a:cxnSpLocks/>
          </p:cNvCxnSpPr>
          <p:nvPr/>
        </p:nvCxnSpPr>
        <p:spPr>
          <a:xfrm>
            <a:off x="3918854" y="3780969"/>
            <a:ext cx="18143" cy="5551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ABC620EC-5CCD-794B-56FF-3F6377A9A06B}"/>
              </a:ext>
            </a:extLst>
          </p:cNvPr>
          <p:cNvCxnSpPr>
            <a:cxnSpLocks/>
          </p:cNvCxnSpPr>
          <p:nvPr/>
        </p:nvCxnSpPr>
        <p:spPr>
          <a:xfrm>
            <a:off x="3911597" y="4564740"/>
            <a:ext cx="18143" cy="5551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47E0F9E4-0D0E-879F-E36A-143A9365D8D3}"/>
              </a:ext>
            </a:extLst>
          </p:cNvPr>
          <p:cNvCxnSpPr>
            <a:cxnSpLocks/>
          </p:cNvCxnSpPr>
          <p:nvPr/>
        </p:nvCxnSpPr>
        <p:spPr>
          <a:xfrm>
            <a:off x="3911597" y="5435598"/>
            <a:ext cx="18143" cy="5551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27518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E64BAC2E-6006-D12E-E608-724607247ECC}"/>
              </a:ext>
            </a:extLst>
          </p:cNvPr>
          <p:cNvSpPr>
            <a:spLocks noGrp="1"/>
          </p:cNvSpPr>
          <p:nvPr>
            <p:ph type="title"/>
          </p:nvPr>
        </p:nvSpPr>
        <p:spPr>
          <a:xfrm>
            <a:off x="1179226" y="1594707"/>
            <a:ext cx="9833548" cy="1325563"/>
          </a:xfrm>
        </p:spPr>
        <p:txBody>
          <a:bodyPr anchor="b">
            <a:normAutofit/>
          </a:bodyPr>
          <a:lstStyle/>
          <a:p>
            <a:pPr algn="ctr"/>
            <a:r>
              <a:rPr lang="en-US" sz="3600" b="1">
                <a:solidFill>
                  <a:schemeClr val="tx2"/>
                </a:solidFill>
              </a:rPr>
              <a:t>System Architecture</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1681DBFD-7BB0-5FEB-E785-604B5F8E6437}"/>
              </a:ext>
            </a:extLst>
          </p:cNvPr>
          <p:cNvSpPr>
            <a:spLocks noGrp="1"/>
          </p:cNvSpPr>
          <p:nvPr>
            <p:ph idx="1"/>
          </p:nvPr>
        </p:nvSpPr>
        <p:spPr>
          <a:xfrm>
            <a:off x="1179226" y="3329677"/>
            <a:ext cx="9833548" cy="2457269"/>
          </a:xfrm>
        </p:spPr>
        <p:txBody>
          <a:bodyPr vert="horz" lIns="91440" tIns="45720" rIns="91440" bIns="45720" rtlCol="0">
            <a:normAutofit/>
          </a:bodyPr>
          <a:lstStyle/>
          <a:p>
            <a:pPr marL="0" indent="0">
              <a:buNone/>
            </a:pPr>
            <a:r>
              <a:rPr lang="en-US" sz="1800">
                <a:solidFill>
                  <a:schemeClr val="tx2"/>
                </a:solidFill>
              </a:rPr>
              <a:t>When the user clicks required functionality(Generate score) in Angular, the component calls the service method. The Angular sends an HTTP request to the Spring Boot REST API. The controller receives the request and calls the service layer where business logic is implemented. The repository fetches required customer information from database, score is calculated and returned as JSON response. Angular subscribes to the response and displays the result.</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56143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A3C7DEA-BCC2-4295-8850-1479932961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289949D-B9F6-468A-86FE-2694DC5AE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220C8F9F-FFDC-9B3C-2CD4-F381605E6CF6}"/>
              </a:ext>
            </a:extLst>
          </p:cNvPr>
          <p:cNvSpPr>
            <a:spLocks noGrp="1"/>
          </p:cNvSpPr>
          <p:nvPr>
            <p:ph type="title"/>
          </p:nvPr>
        </p:nvSpPr>
        <p:spPr>
          <a:xfrm>
            <a:off x="1179226" y="1755073"/>
            <a:ext cx="9833548" cy="1066802"/>
          </a:xfrm>
        </p:spPr>
        <p:txBody>
          <a:bodyPr anchor="b">
            <a:normAutofit/>
          </a:bodyPr>
          <a:lstStyle/>
          <a:p>
            <a:r>
              <a:rPr lang="en-US" sz="3600" b="1">
                <a:solidFill>
                  <a:schemeClr val="tx2"/>
                </a:solidFill>
              </a:rPr>
              <a:t>Modules</a:t>
            </a:r>
          </a:p>
        </p:txBody>
      </p:sp>
      <p:grpSp>
        <p:nvGrpSpPr>
          <p:cNvPr id="12" name="Group 11">
            <a:extLst>
              <a:ext uri="{FF2B5EF4-FFF2-40B4-BE49-F238E27FC236}">
                <a16:creationId xmlns:a16="http://schemas.microsoft.com/office/drawing/2014/main" id="{E4DF0958-0C87-4C28-9554-2FADC788C2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DEC53B48-7B73-49D1-A6FD-9DBF5141EA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7DEDDC41-2C98-4AF1-A0EA-AEEC34827C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2208F20-F93C-4530-8370-FC7818BABB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52F51E0-B50B-43EA-B6AC-C16BD29C3E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C2F5150E-5299-F827-7188-C04C1AAE408E}"/>
              </a:ext>
            </a:extLst>
          </p:cNvPr>
          <p:cNvSpPr>
            <a:spLocks noGrp="1"/>
          </p:cNvSpPr>
          <p:nvPr>
            <p:ph idx="1"/>
          </p:nvPr>
        </p:nvSpPr>
        <p:spPr>
          <a:xfrm>
            <a:off x="1179226" y="3049325"/>
            <a:ext cx="9833548" cy="2945574"/>
          </a:xfrm>
        </p:spPr>
        <p:txBody>
          <a:bodyPr vert="horz" lIns="91440" tIns="45720" rIns="91440" bIns="45720" rtlCol="0" anchor="ctr">
            <a:normAutofit/>
          </a:bodyPr>
          <a:lstStyle/>
          <a:p>
            <a:pPr marL="0" indent="0">
              <a:buNone/>
            </a:pPr>
            <a:r>
              <a:rPr lang="en-US" sz="1800">
                <a:solidFill>
                  <a:schemeClr val="tx2"/>
                </a:solidFill>
              </a:rPr>
              <a:t>User Authentication</a:t>
            </a:r>
          </a:p>
          <a:p>
            <a:pPr marL="0" indent="0">
              <a:buNone/>
            </a:pPr>
            <a:r>
              <a:rPr lang="en-US" sz="1800">
                <a:solidFill>
                  <a:schemeClr val="tx2"/>
                </a:solidFill>
              </a:rPr>
              <a:t>Customer Profile Management </a:t>
            </a:r>
          </a:p>
          <a:p>
            <a:pPr marL="0" indent="0">
              <a:buNone/>
            </a:pPr>
            <a:r>
              <a:rPr lang="en-US" sz="1800">
                <a:solidFill>
                  <a:schemeClr val="tx2"/>
                </a:solidFill>
              </a:rPr>
              <a:t>Credit History Management </a:t>
            </a:r>
          </a:p>
          <a:p>
            <a:pPr marL="0" indent="0">
              <a:buNone/>
            </a:pPr>
            <a:r>
              <a:rPr lang="en-US" sz="1800">
                <a:solidFill>
                  <a:schemeClr val="tx2"/>
                </a:solidFill>
              </a:rPr>
              <a:t>Credit Score Management</a:t>
            </a:r>
          </a:p>
          <a:p>
            <a:pPr marL="0" indent="0">
              <a:buNone/>
            </a:pPr>
            <a:r>
              <a:rPr lang="en-US" sz="1800">
                <a:solidFill>
                  <a:schemeClr val="tx2"/>
                </a:solidFill>
              </a:rPr>
              <a:t>Credit Report Generation</a:t>
            </a:r>
          </a:p>
          <a:p>
            <a:pPr marL="0" indent="0">
              <a:buNone/>
            </a:pPr>
            <a:r>
              <a:rPr lang="en-US" sz="1800">
                <a:solidFill>
                  <a:schemeClr val="tx2"/>
                </a:solidFill>
              </a:rPr>
              <a:t>Dashboard</a:t>
            </a:r>
          </a:p>
          <a:p>
            <a:pPr marL="0" indent="0">
              <a:buNone/>
            </a:pPr>
            <a:r>
              <a:rPr lang="en-US" sz="1800">
                <a:solidFill>
                  <a:schemeClr val="tx2"/>
                </a:solidFill>
              </a:rPr>
              <a:t>Audit Logs </a:t>
            </a:r>
          </a:p>
          <a:p>
            <a:pPr marL="0" indent="0">
              <a:buNone/>
            </a:pPr>
            <a:endParaRPr lang="en-US" sz="1800">
              <a:solidFill>
                <a:schemeClr val="tx2"/>
              </a:solidFill>
            </a:endParaRPr>
          </a:p>
          <a:p>
            <a:pPr marL="0" indent="0">
              <a:buNone/>
            </a:pPr>
            <a:endParaRPr lang="en-US" sz="1800">
              <a:solidFill>
                <a:schemeClr val="tx2"/>
              </a:solidFill>
            </a:endParaRPr>
          </a:p>
        </p:txBody>
      </p:sp>
    </p:spTree>
    <p:extLst>
      <p:ext uri="{BB962C8B-B14F-4D97-AF65-F5344CB8AC3E}">
        <p14:creationId xmlns:p14="http://schemas.microsoft.com/office/powerpoint/2010/main" val="3307739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A3C7DEA-BCC2-4295-8850-1479932961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289949D-B9F6-468A-86FE-2694DC5AE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36BE4CBC-EE3F-0D13-0A3C-E24E5660F24F}"/>
              </a:ext>
            </a:extLst>
          </p:cNvPr>
          <p:cNvSpPr>
            <a:spLocks noGrp="1"/>
          </p:cNvSpPr>
          <p:nvPr>
            <p:ph type="title"/>
          </p:nvPr>
        </p:nvSpPr>
        <p:spPr>
          <a:xfrm>
            <a:off x="1179226" y="1755073"/>
            <a:ext cx="9833548" cy="1066802"/>
          </a:xfrm>
        </p:spPr>
        <p:txBody>
          <a:bodyPr anchor="b">
            <a:normAutofit/>
          </a:bodyPr>
          <a:lstStyle/>
          <a:p>
            <a:r>
              <a:rPr lang="en-US" sz="3600" b="1">
                <a:solidFill>
                  <a:schemeClr val="tx2"/>
                </a:solidFill>
              </a:rPr>
              <a:t>Database Design</a:t>
            </a:r>
          </a:p>
        </p:txBody>
      </p:sp>
      <p:grpSp>
        <p:nvGrpSpPr>
          <p:cNvPr id="12" name="Group 11">
            <a:extLst>
              <a:ext uri="{FF2B5EF4-FFF2-40B4-BE49-F238E27FC236}">
                <a16:creationId xmlns:a16="http://schemas.microsoft.com/office/drawing/2014/main" id="{E4DF0958-0C87-4C28-9554-2FADC788C2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DEC53B48-7B73-49D1-A6FD-9DBF5141EA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7DEDDC41-2C98-4AF1-A0EA-AEEC34827C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2208F20-F93C-4530-8370-FC7818BABB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52F51E0-B50B-43EA-B6AC-C16BD29C3E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1CAE7A94-9480-09EC-AE22-652786030A5E}"/>
              </a:ext>
            </a:extLst>
          </p:cNvPr>
          <p:cNvSpPr>
            <a:spLocks noGrp="1"/>
          </p:cNvSpPr>
          <p:nvPr>
            <p:ph idx="1"/>
          </p:nvPr>
        </p:nvSpPr>
        <p:spPr>
          <a:xfrm>
            <a:off x="1179226" y="3049325"/>
            <a:ext cx="9833548" cy="2945574"/>
          </a:xfrm>
        </p:spPr>
        <p:txBody>
          <a:bodyPr vert="horz" lIns="91440" tIns="45720" rIns="91440" bIns="45720" rtlCol="0" anchor="ctr">
            <a:normAutofit/>
          </a:bodyPr>
          <a:lstStyle/>
          <a:p>
            <a:pPr marL="0" indent="0">
              <a:buNone/>
            </a:pPr>
            <a:r>
              <a:rPr lang="en-US" sz="1700" b="1">
                <a:solidFill>
                  <a:schemeClr val="tx2"/>
                </a:solidFill>
              </a:rPr>
              <a:t>Tables :</a:t>
            </a:r>
          </a:p>
          <a:p>
            <a:pPr marL="0" indent="0">
              <a:buNone/>
            </a:pPr>
            <a:r>
              <a:rPr lang="en-US" sz="1700">
                <a:solidFill>
                  <a:schemeClr val="tx2"/>
                </a:solidFill>
              </a:rPr>
              <a:t>Customer-profile : Stores customer details</a:t>
            </a:r>
          </a:p>
          <a:p>
            <a:pPr marL="0" indent="0">
              <a:buNone/>
            </a:pPr>
            <a:r>
              <a:rPr lang="en-US" sz="1700">
                <a:solidFill>
                  <a:schemeClr val="tx2"/>
                </a:solidFill>
              </a:rPr>
              <a:t>Credit-history : Credit history stores previous records</a:t>
            </a:r>
          </a:p>
          <a:p>
            <a:pPr marL="0" indent="0">
              <a:buNone/>
            </a:pPr>
            <a:r>
              <a:rPr lang="en-US" sz="1700">
                <a:solidFill>
                  <a:schemeClr val="tx2"/>
                </a:solidFill>
              </a:rPr>
              <a:t>Credit-score : Stores latest score</a:t>
            </a:r>
          </a:p>
          <a:p>
            <a:pPr marL="0" indent="0">
              <a:buNone/>
            </a:pPr>
            <a:r>
              <a:rPr lang="en-US" sz="1700">
                <a:solidFill>
                  <a:schemeClr val="tx2"/>
                </a:solidFill>
              </a:rPr>
              <a:t>Audit-log : Tracks system activities</a:t>
            </a:r>
          </a:p>
          <a:p>
            <a:pPr marL="0" indent="0">
              <a:buNone/>
            </a:pPr>
            <a:r>
              <a:rPr lang="en-US" sz="1700" b="1">
                <a:solidFill>
                  <a:schemeClr val="tx2"/>
                </a:solidFill>
              </a:rPr>
              <a:t>Entity Relationship:</a:t>
            </a:r>
          </a:p>
          <a:p>
            <a:pPr marL="0" indent="0">
              <a:buNone/>
            </a:pPr>
            <a:r>
              <a:rPr lang="en-US" sz="1700">
                <a:solidFill>
                  <a:schemeClr val="tx2"/>
                </a:solidFill>
              </a:rPr>
              <a:t>One customer profile can have one credit score and one credit history(one-one relationship)</a:t>
            </a:r>
          </a:p>
          <a:p>
            <a:pPr marL="0" indent="0">
              <a:buNone/>
            </a:pPr>
            <a:r>
              <a:rPr lang="en-US" sz="1700">
                <a:solidFill>
                  <a:schemeClr val="tx2"/>
                </a:solidFill>
              </a:rPr>
              <a:t>One customer profile can have multiple audit logs (Many-one relationship)</a:t>
            </a:r>
          </a:p>
          <a:p>
            <a:pPr marL="0" indent="0">
              <a:buNone/>
            </a:pPr>
            <a:endParaRPr lang="en-US" sz="1700">
              <a:solidFill>
                <a:schemeClr val="tx2"/>
              </a:solidFill>
            </a:endParaRPr>
          </a:p>
          <a:p>
            <a:pPr marL="0" indent="0">
              <a:buNone/>
            </a:pPr>
            <a:endParaRPr lang="en-US" sz="1700">
              <a:solidFill>
                <a:schemeClr val="tx2"/>
              </a:solidFill>
            </a:endParaRPr>
          </a:p>
        </p:txBody>
      </p:sp>
    </p:spTree>
    <p:extLst>
      <p:ext uri="{BB962C8B-B14F-4D97-AF65-F5344CB8AC3E}">
        <p14:creationId xmlns:p14="http://schemas.microsoft.com/office/powerpoint/2010/main" val="141724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A3C7DEA-BCC2-4295-8850-1479932961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289949D-B9F6-468A-86FE-2694DC5AE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C96C997C-1CF8-7204-C752-B7DAEE19EC4E}"/>
              </a:ext>
            </a:extLst>
          </p:cNvPr>
          <p:cNvSpPr>
            <a:spLocks noGrp="1"/>
          </p:cNvSpPr>
          <p:nvPr>
            <p:ph type="title"/>
          </p:nvPr>
        </p:nvSpPr>
        <p:spPr>
          <a:xfrm>
            <a:off x="1179226" y="1755073"/>
            <a:ext cx="9833548" cy="1066802"/>
          </a:xfrm>
        </p:spPr>
        <p:txBody>
          <a:bodyPr anchor="b">
            <a:normAutofit/>
          </a:bodyPr>
          <a:lstStyle/>
          <a:p>
            <a:r>
              <a:rPr lang="en-US" sz="3600" b="1">
                <a:solidFill>
                  <a:schemeClr val="tx2"/>
                </a:solidFill>
              </a:rPr>
              <a:t>REST APIs</a:t>
            </a:r>
          </a:p>
        </p:txBody>
      </p:sp>
      <p:grpSp>
        <p:nvGrpSpPr>
          <p:cNvPr id="12" name="Group 11">
            <a:extLst>
              <a:ext uri="{FF2B5EF4-FFF2-40B4-BE49-F238E27FC236}">
                <a16:creationId xmlns:a16="http://schemas.microsoft.com/office/drawing/2014/main" id="{E4DF0958-0C87-4C28-9554-2FADC788C2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DEC53B48-7B73-49D1-A6FD-9DBF5141EA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7DEDDC41-2C98-4AF1-A0EA-AEEC34827C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2208F20-F93C-4530-8370-FC7818BABB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52F51E0-B50B-43EA-B6AC-C16BD29C3E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F2F7CCD9-FA19-BD4A-00ED-73AAC3127370}"/>
              </a:ext>
            </a:extLst>
          </p:cNvPr>
          <p:cNvSpPr>
            <a:spLocks noGrp="1"/>
          </p:cNvSpPr>
          <p:nvPr>
            <p:ph idx="1"/>
          </p:nvPr>
        </p:nvSpPr>
        <p:spPr>
          <a:xfrm>
            <a:off x="1179226" y="3049325"/>
            <a:ext cx="9833548" cy="2945574"/>
          </a:xfrm>
        </p:spPr>
        <p:txBody>
          <a:bodyPr vert="horz" lIns="91440" tIns="45720" rIns="91440" bIns="45720" rtlCol="0" anchor="ctr">
            <a:normAutofit/>
          </a:bodyPr>
          <a:lstStyle/>
          <a:p>
            <a:pPr marL="0" indent="0">
              <a:buNone/>
            </a:pPr>
            <a:r>
              <a:rPr lang="en-US" sz="1400" b="1">
                <a:solidFill>
                  <a:schemeClr val="tx2"/>
                </a:solidFill>
              </a:rPr>
              <a:t>Customers:                                                                                                                                                               Credit history</a:t>
            </a:r>
          </a:p>
          <a:p>
            <a:pPr marL="0" indent="0">
              <a:buNone/>
            </a:pPr>
            <a:r>
              <a:rPr lang="en-US" sz="1400">
                <a:solidFill>
                  <a:schemeClr val="tx2"/>
                </a:solidFill>
              </a:rPr>
              <a:t>1.POST /customer (creation)                                                                                                              1.POST /credit history(save)</a:t>
            </a:r>
          </a:p>
          <a:p>
            <a:pPr marL="0" indent="0">
              <a:buNone/>
            </a:pPr>
            <a:r>
              <a:rPr lang="en-US" sz="1400">
                <a:solidFill>
                  <a:schemeClr val="tx2"/>
                </a:solidFill>
              </a:rPr>
              <a:t>2.GET /customer(Fetch details) /all                                                                                                 2.UPDATE /credit history</a:t>
            </a:r>
          </a:p>
          <a:p>
            <a:pPr marL="0" indent="0">
              <a:buNone/>
            </a:pPr>
            <a:r>
              <a:rPr lang="en-US" sz="1400">
                <a:solidFill>
                  <a:schemeClr val="tx2"/>
                </a:solidFill>
              </a:rPr>
              <a:t>3.PUT /customer(Update)                                                                                                                    3.Delete / credit history</a:t>
            </a:r>
          </a:p>
          <a:p>
            <a:pPr marL="0" indent="0">
              <a:buNone/>
            </a:pPr>
            <a:r>
              <a:rPr lang="en-US" sz="1400">
                <a:solidFill>
                  <a:schemeClr val="tx2"/>
                </a:solidFill>
              </a:rPr>
              <a:t>4.DELETE /customer(delete)                                                                                                               4.GET /all</a:t>
            </a:r>
          </a:p>
          <a:p>
            <a:pPr marL="0" indent="0">
              <a:buNone/>
            </a:pPr>
            <a:r>
              <a:rPr lang="en-US" sz="1400">
                <a:solidFill>
                  <a:schemeClr val="tx2"/>
                </a:solidFill>
              </a:rPr>
              <a:t>                                                                                                                                                                              </a:t>
            </a:r>
            <a:r>
              <a:rPr lang="en-US" sz="1400" b="1" dirty="0">
                <a:solidFill>
                  <a:schemeClr val="tx2"/>
                </a:solidFill>
              </a:rPr>
              <a:t>Dashboard:</a:t>
            </a:r>
            <a:endParaRPr lang="en-US" sz="1400" dirty="0">
              <a:solidFill>
                <a:schemeClr val="tx2"/>
              </a:solidFill>
            </a:endParaRPr>
          </a:p>
          <a:p>
            <a:pPr marL="0" indent="0">
              <a:buNone/>
            </a:pPr>
            <a:r>
              <a:rPr lang="en-US" sz="1400" b="1">
                <a:solidFill>
                  <a:schemeClr val="tx2"/>
                </a:solidFill>
              </a:rPr>
              <a:t>Credit Score:                                                                                                                                        </a:t>
            </a:r>
            <a:r>
              <a:rPr lang="en-US" sz="1400" dirty="0">
                <a:solidFill>
                  <a:schemeClr val="tx2"/>
                </a:solidFill>
              </a:rPr>
              <a:t>1.GET /Dashboard data /all</a:t>
            </a:r>
          </a:p>
          <a:p>
            <a:pPr marL="0" indent="0">
              <a:buNone/>
            </a:pPr>
            <a:r>
              <a:rPr lang="en-US" sz="1400">
                <a:solidFill>
                  <a:schemeClr val="tx2"/>
                </a:solidFill>
              </a:rPr>
              <a:t>POST /Generate score                                                                                                                            </a:t>
            </a:r>
            <a:r>
              <a:rPr lang="en-US" sz="1400" b="1" dirty="0">
                <a:solidFill>
                  <a:schemeClr val="tx2"/>
                </a:solidFill>
              </a:rPr>
              <a:t>Reports:</a:t>
            </a:r>
          </a:p>
          <a:p>
            <a:pPr marL="0" indent="0">
              <a:buNone/>
            </a:pPr>
            <a:r>
              <a:rPr lang="en-US" sz="1400">
                <a:solidFill>
                  <a:schemeClr val="tx2"/>
                </a:solidFill>
              </a:rPr>
              <a:t>GET / Fetch score /all                                                                                                                       1.GET /Reports / all</a:t>
            </a:r>
          </a:p>
        </p:txBody>
      </p:sp>
    </p:spTree>
    <p:extLst>
      <p:ext uri="{BB962C8B-B14F-4D97-AF65-F5344CB8AC3E}">
        <p14:creationId xmlns:p14="http://schemas.microsoft.com/office/powerpoint/2010/main" val="3643139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C3BEBDA0-FACB-B5ED-4DFE-933BFFC4908E}"/>
              </a:ext>
            </a:extLst>
          </p:cNvPr>
          <p:cNvSpPr>
            <a:spLocks noGrp="1"/>
          </p:cNvSpPr>
          <p:nvPr>
            <p:ph type="title"/>
          </p:nvPr>
        </p:nvSpPr>
        <p:spPr>
          <a:xfrm>
            <a:off x="1179226" y="1594707"/>
            <a:ext cx="9833548" cy="1325563"/>
          </a:xfrm>
        </p:spPr>
        <p:txBody>
          <a:bodyPr anchor="b">
            <a:normAutofit/>
          </a:bodyPr>
          <a:lstStyle/>
          <a:p>
            <a:pPr algn="ctr"/>
            <a:r>
              <a:rPr lang="en-US" sz="3600" b="1">
                <a:solidFill>
                  <a:schemeClr val="tx2"/>
                </a:solidFill>
              </a:rPr>
              <a:t>Features</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81DA9359-5930-4C02-7F36-E462EBD2C2BC}"/>
              </a:ext>
            </a:extLst>
          </p:cNvPr>
          <p:cNvSpPr>
            <a:spLocks noGrp="1"/>
          </p:cNvSpPr>
          <p:nvPr>
            <p:ph idx="1"/>
          </p:nvPr>
        </p:nvSpPr>
        <p:spPr>
          <a:xfrm>
            <a:off x="1179226" y="3329677"/>
            <a:ext cx="9833548" cy="2457269"/>
          </a:xfrm>
        </p:spPr>
        <p:txBody>
          <a:bodyPr vert="horz" lIns="91440" tIns="45720" rIns="91440" bIns="45720" rtlCol="0">
            <a:normAutofit/>
          </a:bodyPr>
          <a:lstStyle/>
          <a:p>
            <a:pPr marL="0" indent="0">
              <a:buNone/>
            </a:pPr>
            <a:r>
              <a:rPr lang="en-US" sz="1500">
                <a:solidFill>
                  <a:schemeClr val="tx2"/>
                </a:solidFill>
              </a:rPr>
              <a:t>1.Customer registration and login </a:t>
            </a:r>
          </a:p>
          <a:p>
            <a:pPr marL="0" indent="0">
              <a:buNone/>
            </a:pPr>
            <a:r>
              <a:rPr lang="en-US" sz="1500">
                <a:solidFill>
                  <a:schemeClr val="tx2"/>
                </a:solidFill>
              </a:rPr>
              <a:t>2.View Customers</a:t>
            </a:r>
          </a:p>
          <a:p>
            <a:pPr marL="0" indent="0">
              <a:buNone/>
            </a:pPr>
            <a:r>
              <a:rPr lang="en-US" sz="1500">
                <a:solidFill>
                  <a:schemeClr val="tx2"/>
                </a:solidFill>
              </a:rPr>
              <a:t>3.Credit Score Tracking</a:t>
            </a:r>
          </a:p>
          <a:p>
            <a:pPr marL="0" indent="0">
              <a:buNone/>
            </a:pPr>
            <a:r>
              <a:rPr lang="en-US" sz="1500">
                <a:solidFill>
                  <a:schemeClr val="tx2"/>
                </a:solidFill>
              </a:rPr>
              <a:t>4.Credit History</a:t>
            </a:r>
          </a:p>
          <a:p>
            <a:pPr marL="0" indent="0">
              <a:buNone/>
            </a:pPr>
            <a:r>
              <a:rPr lang="en-US" sz="1500">
                <a:solidFill>
                  <a:schemeClr val="tx2"/>
                </a:solidFill>
              </a:rPr>
              <a:t>5.Dashboard Statistics</a:t>
            </a:r>
          </a:p>
          <a:p>
            <a:pPr marL="0" indent="0">
              <a:buNone/>
            </a:pPr>
            <a:r>
              <a:rPr lang="en-US" sz="1500">
                <a:solidFill>
                  <a:schemeClr val="tx2"/>
                </a:solidFill>
              </a:rPr>
              <a:t>6.Report Generation</a:t>
            </a:r>
          </a:p>
          <a:p>
            <a:pPr marL="0" indent="0">
              <a:buNone/>
            </a:pPr>
            <a:r>
              <a:rPr lang="en-US" sz="1500">
                <a:solidFill>
                  <a:schemeClr val="tx2"/>
                </a:solidFill>
              </a:rPr>
              <a:t>7.Secure REST APIs</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29030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48DC8284-B4EE-3DFC-CE7A-EB0E9C43CFA0}"/>
              </a:ext>
            </a:extLst>
          </p:cNvPr>
          <p:cNvSpPr>
            <a:spLocks noGrp="1"/>
          </p:cNvSpPr>
          <p:nvPr>
            <p:ph type="title"/>
          </p:nvPr>
        </p:nvSpPr>
        <p:spPr>
          <a:xfrm>
            <a:off x="1179226" y="1280679"/>
            <a:ext cx="9833548" cy="1325563"/>
          </a:xfrm>
        </p:spPr>
        <p:txBody>
          <a:bodyPr anchor="b">
            <a:normAutofit/>
          </a:bodyPr>
          <a:lstStyle/>
          <a:p>
            <a:pPr algn="ctr"/>
            <a:r>
              <a:rPr lang="en-US" sz="3600" b="1">
                <a:solidFill>
                  <a:schemeClr val="tx2"/>
                </a:solidFill>
              </a:rPr>
              <a:t>Backend - Spring Security</a:t>
            </a:r>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78AF0BBC-620F-C734-32EE-CC337F0C36CD}"/>
              </a:ext>
            </a:extLst>
          </p:cNvPr>
          <p:cNvSpPr>
            <a:spLocks noGrp="1"/>
          </p:cNvSpPr>
          <p:nvPr>
            <p:ph idx="1"/>
          </p:nvPr>
        </p:nvSpPr>
        <p:spPr>
          <a:xfrm>
            <a:off x="1179226" y="2890979"/>
            <a:ext cx="9833548" cy="2693976"/>
          </a:xfrm>
        </p:spPr>
        <p:txBody>
          <a:bodyPr vert="horz" lIns="91440" tIns="45720" rIns="91440" bIns="45720" rtlCol="0">
            <a:normAutofit/>
          </a:bodyPr>
          <a:lstStyle/>
          <a:p>
            <a:pPr marL="0" indent="0">
              <a:buNone/>
            </a:pPr>
            <a:r>
              <a:rPr lang="en-US" sz="1700">
                <a:solidFill>
                  <a:schemeClr val="tx2"/>
                </a:solidFill>
              </a:rPr>
              <a:t>Implemented Spring security to secure backend APIs</a:t>
            </a:r>
          </a:p>
          <a:p>
            <a:pPr marL="0" indent="0">
              <a:buNone/>
            </a:pPr>
            <a:r>
              <a:rPr lang="en-US" sz="1700">
                <a:solidFill>
                  <a:schemeClr val="tx2"/>
                </a:solidFill>
              </a:rPr>
              <a:t>Configured authentication and authorization mechanisms</a:t>
            </a:r>
          </a:p>
          <a:p>
            <a:pPr marL="0" indent="0">
              <a:buNone/>
            </a:pPr>
            <a:r>
              <a:rPr lang="en-US" sz="1700">
                <a:solidFill>
                  <a:schemeClr val="tx2"/>
                </a:solidFill>
              </a:rPr>
              <a:t>Used password encryption using BCrypt Password Encoer</a:t>
            </a:r>
          </a:p>
          <a:p>
            <a:pPr marL="0" indent="0">
              <a:buNone/>
            </a:pPr>
            <a:r>
              <a:rPr lang="en-US" sz="1700">
                <a:solidFill>
                  <a:schemeClr val="tx2"/>
                </a:solidFill>
              </a:rPr>
              <a:t>Restrict unauthorized access to protected resources</a:t>
            </a:r>
          </a:p>
          <a:p>
            <a:pPr marL="0" indent="0">
              <a:buNone/>
            </a:pPr>
            <a:r>
              <a:rPr lang="en-US" sz="1700" b="1">
                <a:solidFill>
                  <a:schemeClr val="tx2"/>
                </a:solidFill>
              </a:rPr>
              <a:t>REST Mapping: </a:t>
            </a:r>
            <a:r>
              <a:rPr lang="en-US" sz="1700">
                <a:solidFill>
                  <a:schemeClr val="tx2"/>
                </a:solidFill>
              </a:rPr>
              <a:t>Defines the API endpoints and communication structure between client and server.</a:t>
            </a:r>
          </a:p>
          <a:p>
            <a:pPr marL="0" indent="0">
              <a:buNone/>
            </a:pPr>
            <a:r>
              <a:rPr lang="en-US" sz="1700" b="1">
                <a:solidFill>
                  <a:schemeClr val="tx2"/>
                </a:solidFill>
              </a:rPr>
              <a:t>Get/Put/Post Mapping: </a:t>
            </a:r>
            <a:r>
              <a:rPr lang="en-US" sz="1700">
                <a:solidFill>
                  <a:schemeClr val="tx2"/>
                </a:solidFill>
              </a:rPr>
              <a:t>Specific type of REST mapping used to handle HTTP requests from the server.</a:t>
            </a: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30753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A3C7DEA-BCC2-4295-8850-1479932961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289949D-B9F6-468A-86FE-2694DC5AE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B18D462F-5B44-E23E-BC88-86FBB898EB3F}"/>
              </a:ext>
            </a:extLst>
          </p:cNvPr>
          <p:cNvSpPr>
            <a:spLocks noGrp="1"/>
          </p:cNvSpPr>
          <p:nvPr>
            <p:ph type="title"/>
          </p:nvPr>
        </p:nvSpPr>
        <p:spPr>
          <a:xfrm>
            <a:off x="1005055" y="789873"/>
            <a:ext cx="9833548" cy="1066802"/>
          </a:xfrm>
        </p:spPr>
        <p:txBody>
          <a:bodyPr anchor="b">
            <a:normAutofit/>
          </a:bodyPr>
          <a:lstStyle/>
          <a:p>
            <a:r>
              <a:rPr lang="en-US" sz="3600" b="1">
                <a:solidFill>
                  <a:schemeClr val="tx2"/>
                </a:solidFill>
              </a:rPr>
              <a:t>Annotations used </a:t>
            </a:r>
          </a:p>
        </p:txBody>
      </p:sp>
      <p:grpSp>
        <p:nvGrpSpPr>
          <p:cNvPr id="12" name="Group 11">
            <a:extLst>
              <a:ext uri="{FF2B5EF4-FFF2-40B4-BE49-F238E27FC236}">
                <a16:creationId xmlns:a16="http://schemas.microsoft.com/office/drawing/2014/main" id="{E4DF0958-0C87-4C28-9554-2FADC788C2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DEC53B48-7B73-49D1-A6FD-9DBF5141EA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7DEDDC41-2C98-4AF1-A0EA-AEEC34827C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2208F20-F93C-4530-8370-FC7818BABB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52F51E0-B50B-43EA-B6AC-C16BD29C3E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E77FED85-8F02-02C9-70BC-D36A08032AB8}"/>
              </a:ext>
            </a:extLst>
          </p:cNvPr>
          <p:cNvSpPr>
            <a:spLocks noGrp="1"/>
          </p:cNvSpPr>
          <p:nvPr>
            <p:ph idx="1"/>
          </p:nvPr>
        </p:nvSpPr>
        <p:spPr>
          <a:xfrm>
            <a:off x="1179226" y="2236526"/>
            <a:ext cx="9833548" cy="3874487"/>
          </a:xfrm>
        </p:spPr>
        <p:txBody>
          <a:bodyPr vert="horz" lIns="91440" tIns="45720" rIns="91440" bIns="45720" rtlCol="0" anchor="ctr">
            <a:normAutofit fontScale="85000" lnSpcReduction="20000"/>
          </a:bodyPr>
          <a:lstStyle/>
          <a:p>
            <a:pPr marL="0" indent="0">
              <a:buNone/>
            </a:pPr>
            <a:r>
              <a:rPr lang="en-US" sz="1800">
                <a:solidFill>
                  <a:schemeClr val="tx2"/>
                </a:solidFill>
              </a:rPr>
              <a:t>1.@SpringBootApplication- Main entry point which combines @Configuration, @EnableAutoConfiguration and @ComponentScan</a:t>
            </a:r>
          </a:p>
          <a:p>
            <a:pPr marL="0" indent="0">
              <a:buNone/>
            </a:pPr>
            <a:r>
              <a:rPr lang="en-US" sz="1800">
                <a:solidFill>
                  <a:schemeClr val="tx2"/>
                </a:solidFill>
              </a:rPr>
              <a:t>2.@RestController : Used to create REST API controllers. Handles HTTP requests and returns JSON responses.</a:t>
            </a:r>
          </a:p>
          <a:p>
            <a:pPr marL="0" indent="0">
              <a:buNone/>
            </a:pPr>
            <a:r>
              <a:rPr lang="en-US" sz="1800">
                <a:solidFill>
                  <a:schemeClr val="tx2"/>
                </a:solidFill>
              </a:rPr>
              <a:t>3.@RequestMapping : Defines the base URL path for REST endpoints.</a:t>
            </a:r>
          </a:p>
          <a:p>
            <a:pPr marL="0" indent="0">
              <a:buNone/>
            </a:pPr>
            <a:r>
              <a:rPr lang="en-US" sz="1800" dirty="0">
                <a:solidFill>
                  <a:schemeClr val="tx2"/>
                </a:solidFill>
              </a:rPr>
              <a:t>4.HTTP mapping annotations: </a:t>
            </a:r>
            <a:r>
              <a:rPr lang="en-US" sz="1800" dirty="0" err="1">
                <a:solidFill>
                  <a:schemeClr val="tx2"/>
                </a:solidFill>
              </a:rPr>
              <a:t>Get,Put,Post,Delete</a:t>
            </a:r>
            <a:endParaRPr lang="en-US" sz="1800" dirty="0">
              <a:solidFill>
                <a:schemeClr val="tx2"/>
              </a:solidFill>
            </a:endParaRPr>
          </a:p>
          <a:p>
            <a:pPr marL="0" indent="0">
              <a:buNone/>
            </a:pPr>
            <a:r>
              <a:rPr lang="en-US" sz="1800">
                <a:solidFill>
                  <a:schemeClr val="tx2"/>
                </a:solidFill>
              </a:rPr>
              <a:t>5.@Service : Defines the business logic layer. Contains application processing logic </a:t>
            </a:r>
          </a:p>
          <a:p>
            <a:pPr marL="0" indent="0">
              <a:buNone/>
            </a:pPr>
            <a:r>
              <a:rPr lang="en-US" sz="1800" dirty="0">
                <a:solidFill>
                  <a:schemeClr val="tx2"/>
                </a:solidFill>
              </a:rPr>
              <a:t>6.@Override: Java annotation where child class provides its own implementati</a:t>
            </a:r>
            <a:r>
              <a:rPr lang="en-US" sz="1800">
                <a:solidFill>
                  <a:schemeClr val="tx2"/>
                </a:solidFill>
              </a:rPr>
              <a:t>on of a method that is already defined in a parent class.</a:t>
            </a:r>
          </a:p>
          <a:p>
            <a:pPr marL="0" indent="0">
              <a:buNone/>
            </a:pPr>
            <a:r>
              <a:rPr lang="en-US" sz="1800">
                <a:solidFill>
                  <a:schemeClr val="tx2"/>
                </a:solidFill>
              </a:rPr>
              <a:t>7.@Entity: Maps a Java class to </a:t>
            </a:r>
            <a:r>
              <a:rPr lang="en-US" sz="1800" dirty="0">
                <a:solidFill>
                  <a:schemeClr val="tx2"/>
                </a:solidFill>
              </a:rPr>
              <a:t>a database table</a:t>
            </a:r>
          </a:p>
          <a:p>
            <a:pPr marL="0" indent="0">
              <a:buNone/>
            </a:pPr>
            <a:r>
              <a:rPr lang="en-US" sz="1800" dirty="0">
                <a:solidFill>
                  <a:schemeClr val="tx2"/>
                </a:solidFill>
              </a:rPr>
              <a:t>8.@Id : Defines the primary key of an </a:t>
            </a:r>
            <a:r>
              <a:rPr lang="en-US" sz="1800">
                <a:solidFill>
                  <a:schemeClr val="tx2"/>
                </a:solidFill>
              </a:rPr>
              <a:t>entity.</a:t>
            </a:r>
            <a:endParaRPr lang="en-US" sz="1800" dirty="0">
              <a:solidFill>
                <a:schemeClr val="tx2"/>
              </a:solidFill>
            </a:endParaRPr>
          </a:p>
          <a:p>
            <a:pPr marL="0" indent="0">
              <a:buNone/>
            </a:pPr>
            <a:r>
              <a:rPr lang="en-US" sz="1800">
                <a:solidFill>
                  <a:schemeClr val="tx2"/>
                </a:solidFill>
              </a:rPr>
              <a:t>9.@GeneratedValue: Automatically generates primary key values.</a:t>
            </a:r>
            <a:endParaRPr lang="en-US" sz="1800" dirty="0">
              <a:solidFill>
                <a:schemeClr val="tx2"/>
              </a:solidFill>
            </a:endParaRPr>
          </a:p>
          <a:p>
            <a:pPr marL="0" indent="0">
              <a:buNone/>
            </a:pPr>
            <a:r>
              <a:rPr lang="en-US" sz="1800">
                <a:solidFill>
                  <a:schemeClr val="tx2"/>
                </a:solidFill>
              </a:rPr>
              <a:t>10.@Autowired: Used for dependency injection</a:t>
            </a:r>
            <a:endParaRPr lang="en-US" sz="1800" dirty="0">
              <a:solidFill>
                <a:schemeClr val="tx2"/>
              </a:solidFill>
            </a:endParaRPr>
          </a:p>
          <a:p>
            <a:pPr marL="0" indent="0">
              <a:buNone/>
            </a:pPr>
            <a:r>
              <a:rPr lang="en-US" sz="1800" dirty="0">
                <a:solidFill>
                  <a:schemeClr val="tx2"/>
                </a:solidFill>
              </a:rPr>
              <a:t>11.Entity </a:t>
            </a:r>
            <a:r>
              <a:rPr lang="en-US" sz="1800">
                <a:solidFill>
                  <a:schemeClr val="tx2"/>
                </a:solidFill>
              </a:rPr>
              <a:t>relationship: One to one , one to many.</a:t>
            </a:r>
            <a:endParaRPr lang="en-US" sz="1800" dirty="0">
              <a:solidFill>
                <a:schemeClr val="tx2"/>
              </a:solidFill>
            </a:endParaRPr>
          </a:p>
          <a:p>
            <a:pPr marL="0" indent="0">
              <a:buNone/>
            </a:pPr>
            <a:r>
              <a:rPr lang="en-US" sz="1800">
                <a:solidFill>
                  <a:schemeClr val="tx2"/>
                </a:solidFill>
              </a:rPr>
              <a:t>12.Bean - @Bean --&gt;Defines</a:t>
            </a:r>
            <a:r>
              <a:rPr lang="en-US" sz="1800" dirty="0">
                <a:solidFill>
                  <a:schemeClr val="tx2"/>
                </a:solidFill>
              </a:rPr>
              <a:t> security related objects like Password encoder </a:t>
            </a:r>
          </a:p>
        </p:txBody>
      </p:sp>
    </p:spTree>
    <p:extLst>
      <p:ext uri="{BB962C8B-B14F-4D97-AF65-F5344CB8AC3E}">
        <p14:creationId xmlns:p14="http://schemas.microsoft.com/office/powerpoint/2010/main" val="1199948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A3C7DEA-BCC2-4295-8850-1479932961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289949D-B9F6-468A-86FE-2694DC5AE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28D174AB-A068-AC20-9106-9697F31BF1E5}"/>
              </a:ext>
            </a:extLst>
          </p:cNvPr>
          <p:cNvSpPr>
            <a:spLocks noGrp="1"/>
          </p:cNvSpPr>
          <p:nvPr>
            <p:ph type="title"/>
          </p:nvPr>
        </p:nvSpPr>
        <p:spPr>
          <a:xfrm>
            <a:off x="1179226" y="1755073"/>
            <a:ext cx="9833548" cy="1066802"/>
          </a:xfrm>
        </p:spPr>
        <p:txBody>
          <a:bodyPr anchor="b">
            <a:normAutofit/>
          </a:bodyPr>
          <a:lstStyle/>
          <a:p>
            <a:r>
              <a:rPr lang="en-US" sz="3600" b="1">
                <a:solidFill>
                  <a:schemeClr val="tx2"/>
                </a:solidFill>
              </a:rPr>
              <a:t>Front end implementation</a:t>
            </a:r>
          </a:p>
        </p:txBody>
      </p:sp>
      <p:grpSp>
        <p:nvGrpSpPr>
          <p:cNvPr id="12" name="Group 11">
            <a:extLst>
              <a:ext uri="{FF2B5EF4-FFF2-40B4-BE49-F238E27FC236}">
                <a16:creationId xmlns:a16="http://schemas.microsoft.com/office/drawing/2014/main" id="{E4DF0958-0C87-4C28-9554-2FADC788C2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DEC53B48-7B73-49D1-A6FD-9DBF5141EA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7DEDDC41-2C98-4AF1-A0EA-AEEC34827C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2208F20-F93C-4530-8370-FC7818BABB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52F51E0-B50B-43EA-B6AC-C16BD29C3E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6D835C29-E0CE-D47D-1EC8-DCF773CFAF03}"/>
              </a:ext>
            </a:extLst>
          </p:cNvPr>
          <p:cNvSpPr>
            <a:spLocks noGrp="1"/>
          </p:cNvSpPr>
          <p:nvPr>
            <p:ph idx="1"/>
          </p:nvPr>
        </p:nvSpPr>
        <p:spPr>
          <a:xfrm>
            <a:off x="1179226" y="3049325"/>
            <a:ext cx="9833548" cy="2945574"/>
          </a:xfrm>
        </p:spPr>
        <p:txBody>
          <a:bodyPr vert="horz" lIns="91440" tIns="45720" rIns="91440" bIns="45720" rtlCol="0" anchor="ctr">
            <a:normAutofit/>
          </a:bodyPr>
          <a:lstStyle/>
          <a:p>
            <a:pPr marL="0" indent="0">
              <a:buNone/>
            </a:pPr>
            <a:r>
              <a:rPr lang="en-US" sz="1800" b="1">
                <a:solidFill>
                  <a:schemeClr val="tx2"/>
                </a:solidFill>
              </a:rPr>
              <a:t>Technologies: </a:t>
            </a:r>
            <a:r>
              <a:rPr lang="en-US" sz="1800">
                <a:solidFill>
                  <a:schemeClr val="tx2"/>
                </a:solidFill>
              </a:rPr>
              <a:t>Angular framework, Typescript, html, css </a:t>
            </a:r>
          </a:p>
          <a:p>
            <a:pPr marL="0" indent="0">
              <a:buNone/>
            </a:pPr>
            <a:r>
              <a:rPr lang="en-US" sz="1800" b="1">
                <a:solidFill>
                  <a:schemeClr val="tx2"/>
                </a:solidFill>
              </a:rPr>
              <a:t>Components: </a:t>
            </a:r>
            <a:r>
              <a:rPr lang="en-US" sz="1800">
                <a:solidFill>
                  <a:schemeClr val="tx2"/>
                </a:solidFill>
              </a:rPr>
              <a:t>Login,registration, navigation, dashboard, reports, customer profile, credit history, credit score , audit logs </a:t>
            </a:r>
          </a:p>
          <a:p>
            <a:pPr marL="0" indent="0">
              <a:buNone/>
            </a:pPr>
            <a:r>
              <a:rPr lang="en-US" sz="1800" b="1">
                <a:solidFill>
                  <a:schemeClr val="tx2"/>
                </a:solidFill>
              </a:rPr>
              <a:t>Services: </a:t>
            </a:r>
            <a:r>
              <a:rPr lang="en-US" sz="1800">
                <a:solidFill>
                  <a:schemeClr val="tx2"/>
                </a:solidFill>
              </a:rPr>
              <a:t>Angular services to communicate with Spring boot REST APIs. Used HttpClient for sending HTTP requests(GET,POST,PUT,DELETE)</a:t>
            </a:r>
            <a:br>
              <a:rPr lang="en-US" sz="1800">
                <a:solidFill>
                  <a:schemeClr val="tx2"/>
                </a:solidFill>
              </a:rPr>
            </a:br>
            <a:r>
              <a:rPr lang="en-US" sz="1800">
                <a:solidFill>
                  <a:schemeClr val="tx2"/>
                </a:solidFill>
              </a:rPr>
              <a:t>Handles API responses and displayed data dynamically.</a:t>
            </a:r>
          </a:p>
          <a:p>
            <a:pPr marL="0" indent="0">
              <a:buNone/>
            </a:pPr>
            <a:r>
              <a:rPr lang="en-US" sz="1800" b="1">
                <a:solidFill>
                  <a:schemeClr val="tx2"/>
                </a:solidFill>
              </a:rPr>
              <a:t>Routing: </a:t>
            </a:r>
            <a:r>
              <a:rPr lang="en-US" sz="1800">
                <a:solidFill>
                  <a:schemeClr val="tx2"/>
                </a:solidFill>
              </a:rPr>
              <a:t>Implemented Angular routing for navigation between pages.</a:t>
            </a:r>
          </a:p>
          <a:p>
            <a:pPr marL="0" indent="0">
              <a:buNone/>
            </a:pPr>
            <a:r>
              <a:rPr lang="en-US" sz="1800" b="1">
                <a:solidFill>
                  <a:schemeClr val="tx2"/>
                </a:solidFill>
              </a:rPr>
              <a:t>Forms and validation: </a:t>
            </a:r>
            <a:r>
              <a:rPr lang="en-US" sz="1800">
                <a:solidFill>
                  <a:schemeClr val="tx2"/>
                </a:solidFill>
              </a:rPr>
              <a:t> Used Angular forms for user input. Added validations for required fields and data accuracy.</a:t>
            </a:r>
          </a:p>
        </p:txBody>
      </p:sp>
    </p:spTree>
    <p:extLst>
      <p:ext uri="{BB962C8B-B14F-4D97-AF65-F5344CB8AC3E}">
        <p14:creationId xmlns:p14="http://schemas.microsoft.com/office/powerpoint/2010/main" val="616900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C5202FAE-05ED-A14E-6ECE-0AA5C333ED77}"/>
              </a:ext>
            </a:extLst>
          </p:cNvPr>
          <p:cNvSpPr>
            <a:spLocks noGrp="1"/>
          </p:cNvSpPr>
          <p:nvPr>
            <p:ph type="title"/>
          </p:nvPr>
        </p:nvSpPr>
        <p:spPr>
          <a:xfrm>
            <a:off x="1179226" y="1280679"/>
            <a:ext cx="9833548" cy="1325563"/>
          </a:xfrm>
        </p:spPr>
        <p:txBody>
          <a:bodyPr anchor="b">
            <a:normAutofit/>
          </a:bodyPr>
          <a:lstStyle/>
          <a:p>
            <a:pPr algn="ctr"/>
            <a:r>
              <a:rPr lang="en-US" sz="3600" b="1">
                <a:solidFill>
                  <a:schemeClr val="tx2"/>
                </a:solidFill>
              </a:rPr>
              <a:t>Angular features used </a:t>
            </a:r>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D4034B41-BC1A-E0AD-2C70-53C6BF8E997D}"/>
              </a:ext>
            </a:extLst>
          </p:cNvPr>
          <p:cNvSpPr>
            <a:spLocks noGrp="1"/>
          </p:cNvSpPr>
          <p:nvPr>
            <p:ph idx="1"/>
          </p:nvPr>
        </p:nvSpPr>
        <p:spPr>
          <a:xfrm>
            <a:off x="1179226" y="2890979"/>
            <a:ext cx="9833548" cy="2693976"/>
          </a:xfrm>
        </p:spPr>
        <p:txBody>
          <a:bodyPr vert="horz" lIns="91440" tIns="45720" rIns="91440" bIns="45720" rtlCol="0">
            <a:normAutofit/>
          </a:bodyPr>
          <a:lstStyle/>
          <a:p>
            <a:pPr marL="0" indent="0">
              <a:buNone/>
            </a:pPr>
            <a:r>
              <a:rPr lang="en-US" sz="1800" b="1">
                <a:solidFill>
                  <a:schemeClr val="tx2"/>
                </a:solidFill>
              </a:rPr>
              <a:t>1.Components: </a:t>
            </a:r>
            <a:r>
              <a:rPr lang="en-US" sz="1800">
                <a:solidFill>
                  <a:schemeClr val="tx2"/>
                </a:solidFill>
              </a:rPr>
              <a:t>Reusable UI components, for login, fashboard, customer, credit history, credit score and reports.</a:t>
            </a:r>
          </a:p>
          <a:p>
            <a:pPr marL="0" indent="0">
              <a:buNone/>
            </a:pPr>
            <a:r>
              <a:rPr lang="en-US" sz="1800" b="1">
                <a:solidFill>
                  <a:schemeClr val="tx2"/>
                </a:solidFill>
              </a:rPr>
              <a:t>2.Observables and Subscribe: </a:t>
            </a:r>
            <a:r>
              <a:rPr lang="en-US" sz="1800">
                <a:solidFill>
                  <a:schemeClr val="tx2"/>
                </a:solidFill>
              </a:rPr>
              <a:t>Angular HTTP calls return Observables. Used subscribe() to receive asynchronous API responses. </a:t>
            </a:r>
          </a:p>
          <a:p>
            <a:pPr marL="0" indent="0">
              <a:buNone/>
            </a:pPr>
            <a:r>
              <a:rPr lang="en-US" sz="1800" b="1">
                <a:solidFill>
                  <a:schemeClr val="tx2"/>
                </a:solidFill>
              </a:rPr>
              <a:t>3.Data Binding: </a:t>
            </a:r>
            <a:r>
              <a:rPr lang="en-US" sz="1800">
                <a:solidFill>
                  <a:schemeClr val="tx2"/>
                </a:solidFill>
              </a:rPr>
              <a:t>Used String Interpolation, property binding, event binding, two way binding </a:t>
            </a:r>
          </a:p>
          <a:p>
            <a:pPr marL="0" indent="0">
              <a:buNone/>
            </a:pPr>
            <a:r>
              <a:rPr lang="en-US" sz="1800" b="1">
                <a:solidFill>
                  <a:schemeClr val="tx2"/>
                </a:solidFill>
              </a:rPr>
              <a:t>4.Structural directives: </a:t>
            </a:r>
            <a:r>
              <a:rPr lang="en-US" sz="1800">
                <a:solidFill>
                  <a:schemeClr val="tx2"/>
                </a:solidFill>
              </a:rPr>
              <a:t>Used ngIf and ngFor for conditional rendering and used to display or hide HTML elements based on condition.</a:t>
            </a:r>
          </a:p>
          <a:p>
            <a:pPr marL="0" indent="0">
              <a:buNone/>
            </a:pPr>
            <a:endParaRPr lang="en-US" sz="180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18073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A3C7DEA-BCC2-4295-8850-1479932961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289949D-B9F6-468A-86FE-2694DC5AE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3CE87E90-50E4-8FDE-1F2F-2475F0407789}"/>
              </a:ext>
            </a:extLst>
          </p:cNvPr>
          <p:cNvSpPr>
            <a:spLocks noGrp="1"/>
          </p:cNvSpPr>
          <p:nvPr>
            <p:ph type="title"/>
          </p:nvPr>
        </p:nvSpPr>
        <p:spPr>
          <a:xfrm>
            <a:off x="1179226" y="1755073"/>
            <a:ext cx="9833548" cy="1066802"/>
          </a:xfrm>
        </p:spPr>
        <p:txBody>
          <a:bodyPr anchor="b">
            <a:normAutofit/>
          </a:bodyPr>
          <a:lstStyle/>
          <a:p>
            <a:r>
              <a:rPr lang="en-US" sz="3600" b="1">
                <a:solidFill>
                  <a:schemeClr val="tx2"/>
                </a:solidFill>
              </a:rPr>
              <a:t>Challenges faced </a:t>
            </a:r>
          </a:p>
        </p:txBody>
      </p:sp>
      <p:grpSp>
        <p:nvGrpSpPr>
          <p:cNvPr id="12" name="Group 11">
            <a:extLst>
              <a:ext uri="{FF2B5EF4-FFF2-40B4-BE49-F238E27FC236}">
                <a16:creationId xmlns:a16="http://schemas.microsoft.com/office/drawing/2014/main" id="{E4DF0958-0C87-4C28-9554-2FADC788C2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DEC53B48-7B73-49D1-A6FD-9DBF5141EA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7DEDDC41-2C98-4AF1-A0EA-AEEC34827C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2208F20-F93C-4530-8370-FC7818BABB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52F51E0-B50B-43EA-B6AC-C16BD29C3E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836E1DE9-421F-4980-D073-6B7E3DC327B5}"/>
              </a:ext>
            </a:extLst>
          </p:cNvPr>
          <p:cNvSpPr>
            <a:spLocks noGrp="1"/>
          </p:cNvSpPr>
          <p:nvPr>
            <p:ph idx="1"/>
          </p:nvPr>
        </p:nvSpPr>
        <p:spPr>
          <a:xfrm>
            <a:off x="1179226" y="3049325"/>
            <a:ext cx="9833548" cy="2945574"/>
          </a:xfrm>
        </p:spPr>
        <p:txBody>
          <a:bodyPr vert="horz" lIns="91440" tIns="45720" rIns="91440" bIns="45720" rtlCol="0" anchor="ctr">
            <a:normAutofit/>
          </a:bodyPr>
          <a:lstStyle/>
          <a:p>
            <a:pPr marL="0" indent="0">
              <a:buNone/>
            </a:pPr>
            <a:r>
              <a:rPr lang="en-US" sz="1800">
                <a:solidFill>
                  <a:schemeClr val="tx2"/>
                </a:solidFill>
              </a:rPr>
              <a:t>JSON parsing issues </a:t>
            </a:r>
          </a:p>
          <a:p>
            <a:pPr marL="0" indent="0">
              <a:buNone/>
            </a:pPr>
            <a:r>
              <a:rPr lang="en-US" sz="1800">
                <a:solidFill>
                  <a:schemeClr val="tx2"/>
                </a:solidFill>
              </a:rPr>
              <a:t>Authentication and authorization</a:t>
            </a:r>
          </a:p>
          <a:p>
            <a:pPr marL="0" indent="0">
              <a:buNone/>
            </a:pPr>
            <a:endParaRPr lang="en-US" sz="1800" dirty="0">
              <a:solidFill>
                <a:schemeClr val="tx2"/>
              </a:solidFill>
            </a:endParaRPr>
          </a:p>
          <a:p>
            <a:pPr marL="0" indent="0">
              <a:buNone/>
            </a:pPr>
            <a:endParaRPr lang="en-US" sz="1800">
              <a:solidFill>
                <a:schemeClr val="tx2"/>
              </a:solidFill>
            </a:endParaRPr>
          </a:p>
          <a:p>
            <a:pPr marL="0" indent="0">
              <a:buNone/>
            </a:pPr>
            <a:endParaRPr lang="en-US" sz="1800">
              <a:solidFill>
                <a:schemeClr val="tx2"/>
              </a:solidFill>
            </a:endParaRPr>
          </a:p>
          <a:p>
            <a:pPr marL="0" indent="0">
              <a:buNone/>
            </a:pPr>
            <a:endParaRPr lang="en-US" sz="1800">
              <a:solidFill>
                <a:schemeClr val="tx2"/>
              </a:solidFill>
            </a:endParaRPr>
          </a:p>
          <a:p>
            <a:pPr marL="0" indent="0">
              <a:buNone/>
            </a:pPr>
            <a:endParaRPr lang="en-US" sz="1800" b="1">
              <a:solidFill>
                <a:schemeClr val="tx2"/>
              </a:solidFill>
            </a:endParaRPr>
          </a:p>
        </p:txBody>
      </p:sp>
    </p:spTree>
    <p:extLst>
      <p:ext uri="{BB962C8B-B14F-4D97-AF65-F5344CB8AC3E}">
        <p14:creationId xmlns:p14="http://schemas.microsoft.com/office/powerpoint/2010/main" val="2524377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86658BF3-6747-4140-0D9D-11D64433935D}"/>
              </a:ext>
            </a:extLst>
          </p:cNvPr>
          <p:cNvSpPr>
            <a:spLocks noGrp="1"/>
          </p:cNvSpPr>
          <p:nvPr>
            <p:ph type="title"/>
          </p:nvPr>
        </p:nvSpPr>
        <p:spPr>
          <a:xfrm>
            <a:off x="1179226" y="1594707"/>
            <a:ext cx="9833548" cy="1325563"/>
          </a:xfrm>
        </p:spPr>
        <p:txBody>
          <a:bodyPr anchor="b">
            <a:normAutofit/>
          </a:bodyPr>
          <a:lstStyle/>
          <a:p>
            <a:pPr algn="ctr"/>
            <a:r>
              <a:rPr lang="en-US" sz="3600" b="1">
                <a:solidFill>
                  <a:schemeClr val="tx2"/>
                </a:solidFill>
              </a:rPr>
              <a:t>Future enhancements or improvements</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5A5EAB10-ACBB-02D4-BC86-6CC4B7902DC7}"/>
              </a:ext>
            </a:extLst>
          </p:cNvPr>
          <p:cNvSpPr>
            <a:spLocks noGrp="1"/>
          </p:cNvSpPr>
          <p:nvPr>
            <p:ph idx="1"/>
          </p:nvPr>
        </p:nvSpPr>
        <p:spPr>
          <a:xfrm>
            <a:off x="1179226" y="3329677"/>
            <a:ext cx="9833548" cy="2457269"/>
          </a:xfrm>
        </p:spPr>
        <p:txBody>
          <a:bodyPr vert="horz" lIns="91440" tIns="45720" rIns="91440" bIns="45720" rtlCol="0" anchor="t">
            <a:normAutofit/>
          </a:bodyPr>
          <a:lstStyle/>
          <a:p>
            <a:pPr marL="0" indent="0">
              <a:buNone/>
            </a:pPr>
            <a:r>
              <a:rPr lang="en-US" sz="1800">
                <a:solidFill>
                  <a:schemeClr val="tx2"/>
                </a:solidFill>
              </a:rPr>
              <a:t>JWT authentication</a:t>
            </a:r>
          </a:p>
          <a:p>
            <a:pPr marL="0" indent="0">
              <a:buNone/>
            </a:pPr>
            <a:r>
              <a:rPr lang="en-US" sz="1800">
                <a:solidFill>
                  <a:schemeClr val="tx2"/>
                </a:solidFill>
              </a:rPr>
              <a:t>Export reports to pdf or excel</a:t>
            </a:r>
          </a:p>
          <a:p>
            <a:pPr marL="0" indent="0">
              <a:buNone/>
            </a:pPr>
            <a:r>
              <a:rPr lang="en-US" sz="1800">
                <a:solidFill>
                  <a:schemeClr val="tx2"/>
                </a:solidFill>
              </a:rPr>
              <a:t>Charts and analytics dashboard</a:t>
            </a:r>
          </a:p>
          <a:p>
            <a:pPr marL="0" indent="0">
              <a:buNone/>
            </a:pPr>
            <a:r>
              <a:rPr lang="en-US" sz="1800">
                <a:solidFill>
                  <a:schemeClr val="tx2"/>
                </a:solidFill>
              </a:rPr>
              <a:t>Smoother UI while logging in </a:t>
            </a:r>
          </a:p>
          <a:p>
            <a:pPr marL="0" indent="0">
              <a:buNone/>
            </a:pPr>
            <a:r>
              <a:rPr lang="en-US" sz="1800">
                <a:solidFill>
                  <a:schemeClr val="tx2"/>
                </a:solidFill>
              </a:rPr>
              <a:t>DTO implementation for cleaner fetch </a:t>
            </a:r>
            <a:endParaRPr lang="en-US" sz="1800">
              <a:solidFill>
                <a:srgbClr val="000000"/>
              </a:solidFill>
            </a:endParaRPr>
          </a:p>
          <a:p>
            <a:pPr marL="0" indent="0">
              <a:buNone/>
            </a:pPr>
            <a:r>
              <a:rPr lang="en-US" sz="1800">
                <a:solidFill>
                  <a:schemeClr val="tx2"/>
                </a:solidFill>
              </a:rPr>
              <a:t>Customer ID as primary key for all tables for easier updations. </a:t>
            </a:r>
            <a:endParaRPr lang="en-US"/>
          </a:p>
          <a:p>
            <a:pPr marL="0" indent="0">
              <a:buNone/>
            </a:pPr>
            <a:endParaRPr lang="en-US" sz="1800">
              <a:solidFill>
                <a:schemeClr val="tx2"/>
              </a:solidFill>
            </a:endParaRP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03622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5219498-D544-41AC-98FE-8F956EF66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500DBFC-17A9-4E0A-AEE2-A49F9AEEF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D25894-F3F3-9F77-0207-7104597043EC}"/>
              </a:ext>
            </a:extLst>
          </p:cNvPr>
          <p:cNvSpPr>
            <a:spLocks noGrp="1"/>
          </p:cNvSpPr>
          <p:nvPr>
            <p:ph type="title"/>
          </p:nvPr>
        </p:nvSpPr>
        <p:spPr>
          <a:xfrm>
            <a:off x="804672" y="4267832"/>
            <a:ext cx="4805996" cy="1297115"/>
          </a:xfrm>
        </p:spPr>
        <p:txBody>
          <a:bodyPr vert="horz" lIns="91440" tIns="45720" rIns="91440" bIns="45720" rtlCol="0" anchor="t">
            <a:normAutofit/>
          </a:bodyPr>
          <a:lstStyle/>
          <a:p>
            <a:r>
              <a:rPr lang="en-US" sz="4000" b="1" kern="1200">
                <a:solidFill>
                  <a:schemeClr val="tx2"/>
                </a:solidFill>
                <a:latin typeface="+mj-lt"/>
                <a:ea typeface="+mj-ea"/>
                <a:cs typeface="+mj-cs"/>
              </a:rPr>
              <a:t>THANK YOU!!</a:t>
            </a:r>
          </a:p>
        </p:txBody>
      </p:sp>
      <p:grpSp>
        <p:nvGrpSpPr>
          <p:cNvPr id="13" name="Group 12">
            <a:extLst>
              <a:ext uri="{FF2B5EF4-FFF2-40B4-BE49-F238E27FC236}">
                <a16:creationId xmlns:a16="http://schemas.microsoft.com/office/drawing/2014/main" id="{D74613BB-817C-4C4F-8A24-4936F2F064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1023" y="52996"/>
            <a:ext cx="6093363" cy="6805005"/>
            <a:chOff x="6101023" y="52996"/>
            <a:chExt cx="6093363" cy="6805005"/>
          </a:xfrm>
        </p:grpSpPr>
        <p:sp>
          <p:nvSpPr>
            <p:cNvPr id="14" name="Freeform: Shape 13">
              <a:extLst>
                <a:ext uri="{FF2B5EF4-FFF2-40B4-BE49-F238E27FC236}">
                  <a16:creationId xmlns:a16="http://schemas.microsoft.com/office/drawing/2014/main" id="{926C820D-9A01-44F0-AE18-C2DAB089B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3517682 w 5890490"/>
                <a:gd name="connsiteY0" fmla="*/ 0 h 6578439"/>
                <a:gd name="connsiteX1" fmla="*/ 5849513 w 5890490"/>
                <a:gd name="connsiteY1" fmla="*/ 841730 h 6578439"/>
                <a:gd name="connsiteX2" fmla="*/ 5890490 w 5890490"/>
                <a:gd name="connsiteY2" fmla="*/ 879060 h 6578439"/>
                <a:gd name="connsiteX3" fmla="*/ 5890490 w 5890490"/>
                <a:gd name="connsiteY3" fmla="*/ 1816052 h 6578439"/>
                <a:gd name="connsiteX4" fmla="*/ 5856961 w 5890490"/>
                <a:gd name="connsiteY4" fmla="*/ 1771023 h 6578439"/>
                <a:gd name="connsiteX5" fmla="*/ 5655397 w 5890490"/>
                <a:gd name="connsiteY5" fmla="*/ 1548813 h 6578439"/>
                <a:gd name="connsiteX6" fmla="*/ 3517682 w 5890490"/>
                <a:gd name="connsiteY6" fmla="*/ 658717 h 6578439"/>
                <a:gd name="connsiteX7" fmla="*/ 2395696 w 5890490"/>
                <a:gd name="connsiteY7" fmla="*/ 850721 h 6578439"/>
                <a:gd name="connsiteX8" fmla="*/ 1519955 w 5890490"/>
                <a:gd name="connsiteY8" fmla="*/ 1450441 h 6578439"/>
                <a:gd name="connsiteX9" fmla="*/ 1223630 w 5890490"/>
                <a:gd name="connsiteY9" fmla="*/ 1841430 h 6578439"/>
                <a:gd name="connsiteX10" fmla="*/ 1075857 w 5890490"/>
                <a:gd name="connsiteY10" fmla="*/ 2329343 h 6578439"/>
                <a:gd name="connsiteX11" fmla="*/ 731010 w 5890490"/>
                <a:gd name="connsiteY11" fmla="*/ 3483744 h 6578439"/>
                <a:gd name="connsiteX12" fmla="*/ 741000 w 5890490"/>
                <a:gd name="connsiteY12" fmla="*/ 4479719 h 6578439"/>
                <a:gd name="connsiteX13" fmla="*/ 1315615 w 5890490"/>
                <a:gd name="connsiteY13" fmla="*/ 5443827 h 6578439"/>
                <a:gd name="connsiteX14" fmla="*/ 2277503 w 5890490"/>
                <a:gd name="connsiteY14" fmla="*/ 6259386 h 6578439"/>
                <a:gd name="connsiteX15" fmla="*/ 3439448 w 5890490"/>
                <a:gd name="connsiteY15" fmla="*/ 6551739 h 6578439"/>
                <a:gd name="connsiteX16" fmla="*/ 4408732 w 5890490"/>
                <a:gd name="connsiteY16" fmla="*/ 6255172 h 6578439"/>
                <a:gd name="connsiteX17" fmla="*/ 5343243 w 5890490"/>
                <a:gd name="connsiteY17" fmla="*/ 5442509 h 6578439"/>
                <a:gd name="connsiteX18" fmla="*/ 5745566 w 5890490"/>
                <a:gd name="connsiteY18" fmla="*/ 5056656 h 6578439"/>
                <a:gd name="connsiteX19" fmla="*/ 5890490 w 5890490"/>
                <a:gd name="connsiteY19" fmla="*/ 4920880 h 6578439"/>
                <a:gd name="connsiteX20" fmla="*/ 5890490 w 5890490"/>
                <a:gd name="connsiteY20" fmla="*/ 5821966 h 6578439"/>
                <a:gd name="connsiteX21" fmla="*/ 5802002 w 5890490"/>
                <a:gd name="connsiteY21" fmla="*/ 5907904 h 6578439"/>
                <a:gd name="connsiteX22" fmla="*/ 5294358 w 5890490"/>
                <a:gd name="connsiteY22" fmla="*/ 6397505 h 6578439"/>
                <a:gd name="connsiteX23" fmla="*/ 5077178 w 5890490"/>
                <a:gd name="connsiteY23" fmla="*/ 6578439 h 6578439"/>
                <a:gd name="connsiteX24" fmla="*/ 1567290 w 5890490"/>
                <a:gd name="connsiteY24" fmla="*/ 6578439 h 6578439"/>
                <a:gd name="connsiteX25" fmla="*/ 1508588 w 5890490"/>
                <a:gd name="connsiteY25" fmla="*/ 6535186 h 6578439"/>
                <a:gd name="connsiteX26" fmla="*/ 826498 w 5890490"/>
                <a:gd name="connsiteY26" fmla="*/ 5876034 h 6578439"/>
                <a:gd name="connsiteX27" fmla="*/ 122403 w 5890490"/>
                <a:gd name="connsiteY27" fmla="*/ 3255655 h 6578439"/>
                <a:gd name="connsiteX28" fmla="*/ 1061197 w 5890490"/>
                <a:gd name="connsiteY28" fmla="*/ 984650 h 6578439"/>
                <a:gd name="connsiteX29" fmla="*/ 3517682 w 5890490"/>
                <a:gd name="connsiteY29"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890490" h="6578439">
                  <a:moveTo>
                    <a:pt x="3517682" y="0"/>
                  </a:moveTo>
                  <a:cubicBezTo>
                    <a:pt x="4402016" y="0"/>
                    <a:pt x="5213741" y="315483"/>
                    <a:pt x="5849513" y="841730"/>
                  </a:cubicBezTo>
                  <a:lnTo>
                    <a:pt x="5890490" y="879060"/>
                  </a:lnTo>
                  <a:lnTo>
                    <a:pt x="5890490" y="1816052"/>
                  </a:lnTo>
                  <a:lnTo>
                    <a:pt x="5856961" y="1771023"/>
                  </a:lnTo>
                  <a:cubicBezTo>
                    <a:pt x="5793650" y="1694076"/>
                    <a:pt x="5726429" y="1619959"/>
                    <a:pt x="5655397" y="1548813"/>
                  </a:cubicBezTo>
                  <a:cubicBezTo>
                    <a:pt x="5082208" y="974906"/>
                    <a:pt x="4322973" y="658717"/>
                    <a:pt x="3517682" y="658717"/>
                  </a:cubicBezTo>
                  <a:cubicBezTo>
                    <a:pt x="3085520" y="658717"/>
                    <a:pt x="2718488" y="721533"/>
                    <a:pt x="2395696" y="850721"/>
                  </a:cubicBezTo>
                  <a:cubicBezTo>
                    <a:pt x="2079132" y="977407"/>
                    <a:pt x="1792668" y="1173626"/>
                    <a:pt x="1519955" y="1450441"/>
                  </a:cubicBezTo>
                  <a:cubicBezTo>
                    <a:pt x="1330275" y="1642840"/>
                    <a:pt x="1263719" y="1756094"/>
                    <a:pt x="1223630" y="1841430"/>
                  </a:cubicBezTo>
                  <a:cubicBezTo>
                    <a:pt x="1166545" y="1962981"/>
                    <a:pt x="1128532" y="2116663"/>
                    <a:pt x="1075857" y="2329343"/>
                  </a:cubicBezTo>
                  <a:cubicBezTo>
                    <a:pt x="1008652" y="2601153"/>
                    <a:pt x="916537" y="2973574"/>
                    <a:pt x="731010" y="3483744"/>
                  </a:cubicBezTo>
                  <a:cubicBezTo>
                    <a:pt x="617488" y="3795981"/>
                    <a:pt x="620731" y="4121653"/>
                    <a:pt x="741000" y="4479719"/>
                  </a:cubicBezTo>
                  <a:cubicBezTo>
                    <a:pt x="847257" y="4796172"/>
                    <a:pt x="1045888" y="5129481"/>
                    <a:pt x="1315615" y="5443827"/>
                  </a:cubicBezTo>
                  <a:cubicBezTo>
                    <a:pt x="1630753" y="5810980"/>
                    <a:pt x="1945371" y="6077784"/>
                    <a:pt x="2277503" y="6259386"/>
                  </a:cubicBezTo>
                  <a:cubicBezTo>
                    <a:pt x="2637530" y="6456133"/>
                    <a:pt x="3017536" y="6551739"/>
                    <a:pt x="3439448" y="6551739"/>
                  </a:cubicBezTo>
                  <a:cubicBezTo>
                    <a:pt x="3781571" y="6551739"/>
                    <a:pt x="4089573" y="6457449"/>
                    <a:pt x="4408732" y="6255172"/>
                  </a:cubicBezTo>
                  <a:cubicBezTo>
                    <a:pt x="4738010" y="6046310"/>
                    <a:pt x="5050941" y="5739207"/>
                    <a:pt x="5343243" y="5442509"/>
                  </a:cubicBezTo>
                  <a:cubicBezTo>
                    <a:pt x="5479860" y="5303970"/>
                    <a:pt x="5614918" y="5178206"/>
                    <a:pt x="5745566" y="5056656"/>
                  </a:cubicBezTo>
                  <a:lnTo>
                    <a:pt x="5890490" y="4920880"/>
                  </a:lnTo>
                  <a:lnTo>
                    <a:pt x="5890490" y="5821966"/>
                  </a:lnTo>
                  <a:lnTo>
                    <a:pt x="5802002"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458B604F-996E-4349-B131-E04ED285D8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5"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7CCEAF3-651B-4605-AE58-F96E227036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3"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gs>
                <a:gs pos="16000">
                  <a:schemeClr val="accent6">
                    <a:alpha val="10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ED519330-E5F1-4248-B58C-1AA0D9E6D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 name="Graphic 5" descr="Handshake">
            <a:extLst>
              <a:ext uri="{FF2B5EF4-FFF2-40B4-BE49-F238E27FC236}">
                <a16:creationId xmlns:a16="http://schemas.microsoft.com/office/drawing/2014/main" id="{1EA6D19A-0B3C-5533-2674-9CC5D631A96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29652" y="1859078"/>
            <a:ext cx="3821102" cy="3821102"/>
          </a:xfrm>
          <a:prstGeom prst="rect">
            <a:avLst/>
          </a:prstGeom>
          <a:ln>
            <a:noFill/>
          </a:ln>
        </p:spPr>
      </p:pic>
    </p:spTree>
    <p:extLst>
      <p:ext uri="{BB962C8B-B14F-4D97-AF65-F5344CB8AC3E}">
        <p14:creationId xmlns:p14="http://schemas.microsoft.com/office/powerpoint/2010/main" val="53540624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Credit Score Management System</vt:lpstr>
      <vt:lpstr>Project overview</vt:lpstr>
      <vt:lpstr>Problem statement</vt:lpstr>
      <vt:lpstr>Technologies Used</vt:lpstr>
      <vt:lpstr>Simple full stack end to end flow </vt:lpstr>
      <vt:lpstr>System Architecture</vt:lpstr>
      <vt:lpstr>Modules</vt:lpstr>
      <vt:lpstr>Database Design</vt:lpstr>
      <vt:lpstr>REST APIs</vt:lpstr>
      <vt:lpstr>Features</vt:lpstr>
      <vt:lpstr>Backend - Spring Security</vt:lpstr>
      <vt:lpstr>Annotations used </vt:lpstr>
      <vt:lpstr>Front end implementation</vt:lpstr>
      <vt:lpstr>Angular features used </vt:lpstr>
      <vt:lpstr>Challenges faced </vt:lpstr>
      <vt:lpstr>Future enhancements or improvements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576</cp:revision>
  <dcterms:created xsi:type="dcterms:W3CDTF">2013-07-15T20:26:40Z</dcterms:created>
  <dcterms:modified xsi:type="dcterms:W3CDTF">2026-07-14T04:34:40Z</dcterms:modified>
</cp:coreProperties>
</file>